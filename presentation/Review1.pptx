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Times New Roman MT Bold" charset="1" panose="02030802070405020303"/>
      <p:regular r:id="rId24"/>
    </p:embeddedFont>
    <p:embeddedFont>
      <p:font typeface="Times New Roman MT" charset="1" panose="02030502070405020303"/>
      <p:regular r:id="rId25"/>
    </p:embeddedFont>
    <p:embeddedFont>
      <p:font typeface="Times New Roman MT Bold Italics" charset="1" panose="02030802070405090303"/>
      <p:regular r:id="rId26"/>
    </p:embeddedFont>
    <p:embeddedFont>
      <p:font typeface="Arimo Bold" charset="1" panose="020B0704020202020204"/>
      <p:regular r:id="rId27"/>
    </p:embeddedFont>
    <p:embeddedFont>
      <p:font typeface="Arimo" charset="1" panose="020B0604020202020204"/>
      <p:regular r:id="rId28"/>
    </p:embeddedFont>
    <p:embeddedFont>
      <p:font typeface="Roboto Slab" charset="1" panose="00000000000000000000"/>
      <p:regular r:id="rId29"/>
    </p:embeddedFont>
    <p:embeddedFont>
      <p:font typeface="Arab Times" charset="1" panose="02000400000000000000"/>
      <p:regular r:id="rId30"/>
    </p:embeddedFont>
    <p:embeddedFont>
      <p:font typeface="Roboto Slab Bold" charset="1" panose="00000000000000000000"/>
      <p:regular r:id="rId31"/>
    </p:embeddedFont>
    <p:embeddedFont>
      <p:font typeface="Roboto" charset="1" panose="02000000000000000000"/>
      <p:regular r:id="rId32"/>
    </p:embeddedFont>
    <p:embeddedFont>
      <p:font typeface="Roboto Bold" charset="1" panose="0200000000000000000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7938" y="-7938"/>
            <a:ext cx="18303875" cy="10302875"/>
            <a:chOff x="0" y="0"/>
            <a:chExt cx="24405167" cy="13737167"/>
          </a:xfrm>
        </p:grpSpPr>
        <p:sp>
          <p:nvSpPr>
            <p:cNvPr name="Freeform 3" id="3"/>
            <p:cNvSpPr/>
            <p:nvPr/>
          </p:nvSpPr>
          <p:spPr>
            <a:xfrm flipH="false" flipV="false" rot="0">
              <a:off x="10541" y="10541"/>
              <a:ext cx="24383999" cy="13715999"/>
            </a:xfrm>
            <a:custGeom>
              <a:avLst/>
              <a:gdLst/>
              <a:ahLst/>
              <a:cxnLst/>
              <a:rect r="r" b="b" t="t" l="l"/>
              <a:pathLst>
                <a:path h="13715999" w="24383999">
                  <a:moveTo>
                    <a:pt x="0" y="0"/>
                  </a:moveTo>
                  <a:lnTo>
                    <a:pt x="24383999" y="0"/>
                  </a:lnTo>
                  <a:lnTo>
                    <a:pt x="24383999" y="13715999"/>
                  </a:lnTo>
                  <a:lnTo>
                    <a:pt x="0" y="13715999"/>
                  </a:lnTo>
                  <a:close/>
                </a:path>
              </a:pathLst>
            </a:custGeom>
            <a:solidFill>
              <a:srgbClr val="EDF1F8"/>
            </a:solidFill>
          </p:spPr>
        </p:sp>
      </p:grpSp>
      <p:grpSp>
        <p:nvGrpSpPr>
          <p:cNvPr name="Group 4" id="4"/>
          <p:cNvGrpSpPr/>
          <p:nvPr/>
        </p:nvGrpSpPr>
        <p:grpSpPr>
          <a:xfrm rot="0">
            <a:off x="-7938" y="-7938"/>
            <a:ext cx="18303875" cy="10302875"/>
            <a:chOff x="0" y="0"/>
            <a:chExt cx="24405167" cy="13737167"/>
          </a:xfrm>
        </p:grpSpPr>
        <p:sp>
          <p:nvSpPr>
            <p:cNvPr name="Freeform 5" id="5"/>
            <p:cNvSpPr/>
            <p:nvPr/>
          </p:nvSpPr>
          <p:spPr>
            <a:xfrm flipH="false" flipV="false" rot="0">
              <a:off x="10541" y="10541"/>
              <a:ext cx="24383999" cy="13715999"/>
            </a:xfrm>
            <a:custGeom>
              <a:avLst/>
              <a:gdLst/>
              <a:ahLst/>
              <a:cxnLst/>
              <a:rect r="r" b="b" t="t" l="l"/>
              <a:pathLst>
                <a:path h="13715999" w="24383999">
                  <a:moveTo>
                    <a:pt x="0" y="0"/>
                  </a:moveTo>
                  <a:lnTo>
                    <a:pt x="24383999" y="0"/>
                  </a:lnTo>
                  <a:lnTo>
                    <a:pt x="24383999" y="13715999"/>
                  </a:lnTo>
                  <a:lnTo>
                    <a:pt x="0" y="13715999"/>
                  </a:lnTo>
                  <a:close/>
                </a:path>
              </a:pathLst>
            </a:custGeom>
            <a:solidFill>
              <a:srgbClr val="FBFCFE"/>
            </a:solidFill>
          </p:spPr>
        </p:sp>
      </p:grpSp>
      <p:grpSp>
        <p:nvGrpSpPr>
          <p:cNvPr name="Group 6" id="6"/>
          <p:cNvGrpSpPr/>
          <p:nvPr/>
        </p:nvGrpSpPr>
        <p:grpSpPr>
          <a:xfrm rot="0">
            <a:off x="1726195" y="857250"/>
            <a:ext cx="1771088" cy="1616333"/>
            <a:chOff x="0" y="0"/>
            <a:chExt cx="2361451" cy="2155111"/>
          </a:xfrm>
        </p:grpSpPr>
        <p:sp>
          <p:nvSpPr>
            <p:cNvPr name="Freeform 7" id="7"/>
            <p:cNvSpPr/>
            <p:nvPr/>
          </p:nvSpPr>
          <p:spPr>
            <a:xfrm flipH="false" flipV="false" rot="0">
              <a:off x="0" y="0"/>
              <a:ext cx="2361438" cy="2155063"/>
            </a:xfrm>
            <a:custGeom>
              <a:avLst/>
              <a:gdLst/>
              <a:ahLst/>
              <a:cxnLst/>
              <a:rect r="r" b="b" t="t" l="l"/>
              <a:pathLst>
                <a:path h="2155063" w="2361438">
                  <a:moveTo>
                    <a:pt x="0" y="0"/>
                  </a:moveTo>
                  <a:lnTo>
                    <a:pt x="2361438" y="0"/>
                  </a:lnTo>
                  <a:lnTo>
                    <a:pt x="2361438" y="2155063"/>
                  </a:lnTo>
                  <a:lnTo>
                    <a:pt x="0" y="2155063"/>
                  </a:lnTo>
                  <a:lnTo>
                    <a:pt x="0" y="0"/>
                  </a:lnTo>
                  <a:close/>
                </a:path>
              </a:pathLst>
            </a:custGeom>
            <a:blipFill>
              <a:blip r:embed="rId2"/>
              <a:stretch>
                <a:fillRect l="-73" t="0" r="-73" b="-2"/>
              </a:stretch>
            </a:blipFill>
          </p:spPr>
        </p:sp>
      </p:grpSp>
      <p:sp>
        <p:nvSpPr>
          <p:cNvPr name="Freeform 8" id="8"/>
          <p:cNvSpPr/>
          <p:nvPr/>
        </p:nvSpPr>
        <p:spPr>
          <a:xfrm flipH="false" flipV="false" rot="0">
            <a:off x="14807975" y="525682"/>
            <a:ext cx="2866423" cy="1947901"/>
          </a:xfrm>
          <a:custGeom>
            <a:avLst/>
            <a:gdLst/>
            <a:ahLst/>
            <a:cxnLst/>
            <a:rect r="r" b="b" t="t" l="l"/>
            <a:pathLst>
              <a:path h="1947901" w="2866423">
                <a:moveTo>
                  <a:pt x="0" y="0"/>
                </a:moveTo>
                <a:lnTo>
                  <a:pt x="2866423" y="0"/>
                </a:lnTo>
                <a:lnTo>
                  <a:pt x="2866423" y="1947901"/>
                </a:lnTo>
                <a:lnTo>
                  <a:pt x="0" y="1947901"/>
                </a:lnTo>
                <a:lnTo>
                  <a:pt x="0" y="0"/>
                </a:lnTo>
                <a:close/>
              </a:path>
            </a:pathLst>
          </a:custGeom>
          <a:blipFill>
            <a:blip r:embed="rId3"/>
            <a:stretch>
              <a:fillRect l="0" t="0" r="0" b="0"/>
            </a:stretch>
          </a:blipFill>
        </p:spPr>
      </p:sp>
      <p:sp>
        <p:nvSpPr>
          <p:cNvPr name="TextBox 9" id="9"/>
          <p:cNvSpPr txBox="true"/>
          <p:nvPr/>
        </p:nvSpPr>
        <p:spPr>
          <a:xfrm rot="0">
            <a:off x="1883640" y="768809"/>
            <a:ext cx="15375660" cy="1621765"/>
          </a:xfrm>
          <a:prstGeom prst="rect">
            <a:avLst/>
          </a:prstGeom>
        </p:spPr>
        <p:txBody>
          <a:bodyPr anchor="t" rtlCol="false" tIns="0" lIns="0" bIns="0" rIns="0">
            <a:spAutoFit/>
          </a:bodyPr>
          <a:lstStyle/>
          <a:p>
            <a:pPr algn="ctr">
              <a:lnSpc>
                <a:spcPts val="6159"/>
              </a:lnSpc>
            </a:pPr>
            <a:r>
              <a:rPr lang="en-US" sz="4399" b="true">
                <a:solidFill>
                  <a:srgbClr val="000000"/>
                </a:solidFill>
                <a:latin typeface="Times New Roman MT Bold"/>
                <a:ea typeface="Times New Roman MT Bold"/>
                <a:cs typeface="Times New Roman MT Bold"/>
                <a:sym typeface="Times New Roman MT Bold"/>
              </a:rPr>
              <a:t>Children’s Education Society ® </a:t>
            </a:r>
          </a:p>
          <a:p>
            <a:pPr algn="ctr">
              <a:lnSpc>
                <a:spcPts val="6159"/>
              </a:lnSpc>
            </a:pPr>
            <a:r>
              <a:rPr lang="en-US" sz="4399" b="true">
                <a:solidFill>
                  <a:srgbClr val="000000"/>
                </a:solidFill>
                <a:latin typeface="Times New Roman MT Bold"/>
                <a:ea typeface="Times New Roman MT Bold"/>
                <a:cs typeface="Times New Roman MT Bold"/>
                <a:sym typeface="Times New Roman MT Bold"/>
              </a:rPr>
              <a:t>The Oxford College of Engineering</a:t>
            </a:r>
          </a:p>
        </p:txBody>
      </p:sp>
      <p:sp>
        <p:nvSpPr>
          <p:cNvPr name="TextBox 10" id="10"/>
          <p:cNvSpPr txBox="true"/>
          <p:nvPr/>
        </p:nvSpPr>
        <p:spPr>
          <a:xfrm rot="0">
            <a:off x="1028700" y="2643735"/>
            <a:ext cx="16230600" cy="943535"/>
          </a:xfrm>
          <a:prstGeom prst="rect">
            <a:avLst/>
          </a:prstGeom>
        </p:spPr>
        <p:txBody>
          <a:bodyPr anchor="t" rtlCol="false" tIns="0" lIns="0" bIns="0" rIns="0">
            <a:spAutoFit/>
          </a:bodyPr>
          <a:lstStyle/>
          <a:p>
            <a:pPr algn="ctr">
              <a:lnSpc>
                <a:spcPts val="5744"/>
              </a:lnSpc>
            </a:pPr>
            <a:r>
              <a:rPr lang="en-US" sz="4102">
                <a:solidFill>
                  <a:srgbClr val="000000"/>
                </a:solidFill>
                <a:latin typeface="Times New Roman MT"/>
                <a:ea typeface="Times New Roman MT"/>
                <a:cs typeface="Times New Roman MT"/>
                <a:sym typeface="Times New Roman MT"/>
              </a:rPr>
              <a:t>Department of Computer Science &amp; Engineering</a:t>
            </a:r>
          </a:p>
        </p:txBody>
      </p:sp>
      <p:sp>
        <p:nvSpPr>
          <p:cNvPr name="TextBox 11" id="11"/>
          <p:cNvSpPr txBox="true"/>
          <p:nvPr/>
        </p:nvSpPr>
        <p:spPr>
          <a:xfrm rot="0">
            <a:off x="1028700" y="3825395"/>
            <a:ext cx="16230600" cy="613410"/>
          </a:xfrm>
          <a:prstGeom prst="rect">
            <a:avLst/>
          </a:prstGeom>
        </p:spPr>
        <p:txBody>
          <a:bodyPr anchor="t" rtlCol="false" tIns="0" lIns="0" bIns="0" rIns="0">
            <a:spAutoFit/>
          </a:bodyPr>
          <a:lstStyle/>
          <a:p>
            <a:pPr algn="ctr">
              <a:lnSpc>
                <a:spcPts val="4515"/>
              </a:lnSpc>
            </a:pPr>
            <a:r>
              <a:rPr lang="en-US" b="true" sz="3225" i="true">
                <a:solidFill>
                  <a:srgbClr val="000000"/>
                </a:solidFill>
                <a:latin typeface="Times New Roman MT Bold Italics"/>
                <a:ea typeface="Times New Roman MT Bold Italics"/>
                <a:cs typeface="Times New Roman MT Bold Italics"/>
                <a:sym typeface="Times New Roman MT Bold Italics"/>
              </a:rPr>
              <a:t>Project Phase 2 </a:t>
            </a:r>
            <a:r>
              <a:rPr lang="en-US" b="true" sz="3225" i="true">
                <a:solidFill>
                  <a:srgbClr val="000000"/>
                </a:solidFill>
                <a:latin typeface="Times New Roman MT Bold Italics"/>
                <a:ea typeface="Times New Roman MT Bold Italics"/>
                <a:cs typeface="Times New Roman MT Bold Italics"/>
                <a:sym typeface="Times New Roman MT Bold Italics"/>
              </a:rPr>
              <a:t>- Review 1</a:t>
            </a:r>
          </a:p>
        </p:txBody>
      </p:sp>
      <p:sp>
        <p:nvSpPr>
          <p:cNvPr name="TextBox 12" id="12"/>
          <p:cNvSpPr txBox="true"/>
          <p:nvPr/>
        </p:nvSpPr>
        <p:spPr>
          <a:xfrm rot="0">
            <a:off x="1028700" y="5000625"/>
            <a:ext cx="16230600" cy="706093"/>
          </a:xfrm>
          <a:prstGeom prst="rect">
            <a:avLst/>
          </a:prstGeom>
        </p:spPr>
        <p:txBody>
          <a:bodyPr anchor="t" rtlCol="false" tIns="0" lIns="0" bIns="0" rIns="0">
            <a:spAutoFit/>
          </a:bodyPr>
          <a:lstStyle/>
          <a:p>
            <a:pPr algn="ctr">
              <a:lnSpc>
                <a:spcPts val="5179"/>
              </a:lnSpc>
            </a:pPr>
            <a:r>
              <a:rPr lang="en-US" sz="3699" b="true">
                <a:solidFill>
                  <a:srgbClr val="000000"/>
                </a:solidFill>
                <a:latin typeface="Times New Roman MT Bold"/>
                <a:ea typeface="Times New Roman MT Bold"/>
                <a:cs typeface="Times New Roman MT Bold"/>
                <a:sym typeface="Times New Roman MT Bold"/>
              </a:rPr>
              <a:t>TOPIC: Intelligent Cloud Resource Optimization Platform</a:t>
            </a:r>
          </a:p>
        </p:txBody>
      </p:sp>
      <p:sp>
        <p:nvSpPr>
          <p:cNvPr name="TextBox 13" id="13"/>
          <p:cNvSpPr txBox="true"/>
          <p:nvPr/>
        </p:nvSpPr>
        <p:spPr>
          <a:xfrm rot="0">
            <a:off x="13203047" y="7965020"/>
            <a:ext cx="3895853" cy="1293280"/>
          </a:xfrm>
          <a:prstGeom prst="rect">
            <a:avLst/>
          </a:prstGeom>
        </p:spPr>
        <p:txBody>
          <a:bodyPr anchor="t" rtlCol="false" tIns="0" lIns="0" bIns="0" rIns="0">
            <a:spAutoFit/>
          </a:bodyPr>
          <a:lstStyle/>
          <a:p>
            <a:pPr algn="just">
              <a:lnSpc>
                <a:spcPts val="3311"/>
              </a:lnSpc>
            </a:pPr>
            <a:r>
              <a:rPr lang="en-US" sz="2367">
                <a:solidFill>
                  <a:srgbClr val="000000"/>
                </a:solidFill>
                <a:latin typeface="Times New Roman MT"/>
                <a:ea typeface="Times New Roman MT"/>
                <a:cs typeface="Times New Roman MT"/>
                <a:sym typeface="Times New Roman MT"/>
              </a:rPr>
              <a:t>Prithiviraj-1OX22CS002</a:t>
            </a:r>
          </a:p>
          <a:p>
            <a:pPr algn="just">
              <a:lnSpc>
                <a:spcPts val="3314"/>
              </a:lnSpc>
            </a:pPr>
            <a:r>
              <a:rPr lang="en-US" sz="2367">
                <a:solidFill>
                  <a:srgbClr val="000000"/>
                </a:solidFill>
                <a:latin typeface="Times New Roman MT"/>
                <a:ea typeface="Times New Roman MT"/>
                <a:cs typeface="Times New Roman MT"/>
                <a:sym typeface="Times New Roman MT"/>
              </a:rPr>
              <a:t>Arun Kumar-1OX22CS028</a:t>
            </a:r>
          </a:p>
          <a:p>
            <a:pPr algn="just">
              <a:lnSpc>
                <a:spcPts val="3314"/>
              </a:lnSpc>
            </a:pPr>
            <a:r>
              <a:rPr lang="en-US" sz="2367">
                <a:solidFill>
                  <a:srgbClr val="000000"/>
                </a:solidFill>
                <a:latin typeface="Times New Roman MT"/>
                <a:ea typeface="Times New Roman MT"/>
                <a:cs typeface="Times New Roman MT"/>
                <a:sym typeface="Times New Roman MT"/>
              </a:rPr>
              <a:t>Atharva Gupta-1OX22CS031</a:t>
            </a:r>
          </a:p>
        </p:txBody>
      </p:sp>
      <p:sp>
        <p:nvSpPr>
          <p:cNvPr name="TextBox 14" id="14"/>
          <p:cNvSpPr txBox="true"/>
          <p:nvPr/>
        </p:nvSpPr>
        <p:spPr>
          <a:xfrm rot="0">
            <a:off x="2441348" y="7360947"/>
            <a:ext cx="2111871" cy="366713"/>
          </a:xfrm>
          <a:prstGeom prst="rect">
            <a:avLst/>
          </a:prstGeom>
        </p:spPr>
        <p:txBody>
          <a:bodyPr anchor="t" rtlCol="false" tIns="0" lIns="0" bIns="0" rIns="0">
            <a:spAutoFit/>
          </a:bodyPr>
          <a:lstStyle/>
          <a:p>
            <a:pPr algn="ctr">
              <a:lnSpc>
                <a:spcPts val="2812"/>
              </a:lnSpc>
              <a:spcBef>
                <a:spcPct val="0"/>
              </a:spcBef>
            </a:pPr>
            <a:r>
              <a:rPr lang="en-US" b="true" sz="2250">
                <a:solidFill>
                  <a:srgbClr val="000000"/>
                </a:solidFill>
                <a:latin typeface="Arimo Bold"/>
                <a:ea typeface="Arimo Bold"/>
                <a:cs typeface="Arimo Bold"/>
                <a:sym typeface="Arimo Bold"/>
              </a:rPr>
              <a:t>Project Guide : </a:t>
            </a:r>
          </a:p>
        </p:txBody>
      </p:sp>
      <p:sp>
        <p:nvSpPr>
          <p:cNvPr name="TextBox 15" id="15"/>
          <p:cNvSpPr txBox="true"/>
          <p:nvPr/>
        </p:nvSpPr>
        <p:spPr>
          <a:xfrm rot="0">
            <a:off x="2083075" y="8438940"/>
            <a:ext cx="3230017" cy="421640"/>
          </a:xfrm>
          <a:prstGeom prst="rect">
            <a:avLst/>
          </a:prstGeom>
        </p:spPr>
        <p:txBody>
          <a:bodyPr anchor="t" rtlCol="false" tIns="0" lIns="0" bIns="0" rIns="0">
            <a:spAutoFit/>
          </a:bodyPr>
          <a:lstStyle/>
          <a:p>
            <a:pPr algn="ctr">
              <a:lnSpc>
                <a:spcPts val="3250"/>
              </a:lnSpc>
              <a:spcBef>
                <a:spcPct val="0"/>
              </a:spcBef>
            </a:pPr>
            <a:r>
              <a:rPr lang="en-US" sz="2600">
                <a:solidFill>
                  <a:srgbClr val="000000"/>
                </a:solidFill>
                <a:latin typeface="Arimo"/>
                <a:ea typeface="Arimo"/>
                <a:cs typeface="Arimo"/>
                <a:sym typeface="Arimo"/>
              </a:rPr>
              <a:t>Dr E.Saravana Kumar</a:t>
            </a:r>
          </a:p>
        </p:txBody>
      </p:sp>
      <p:sp>
        <p:nvSpPr>
          <p:cNvPr name="TextBox 16" id="16"/>
          <p:cNvSpPr txBox="true"/>
          <p:nvPr/>
        </p:nvSpPr>
        <p:spPr>
          <a:xfrm rot="0">
            <a:off x="8826475" y="7205531"/>
            <a:ext cx="635050" cy="366713"/>
          </a:xfrm>
          <a:prstGeom prst="rect">
            <a:avLst/>
          </a:prstGeom>
        </p:spPr>
        <p:txBody>
          <a:bodyPr anchor="t" rtlCol="false" tIns="0" lIns="0" bIns="0" rIns="0">
            <a:spAutoFit/>
          </a:bodyPr>
          <a:lstStyle/>
          <a:p>
            <a:pPr algn="ctr">
              <a:lnSpc>
                <a:spcPts val="2812"/>
              </a:lnSpc>
              <a:spcBef>
                <a:spcPct val="0"/>
              </a:spcBef>
            </a:pPr>
            <a:r>
              <a:rPr lang="en-US" b="true" sz="2250">
                <a:solidFill>
                  <a:srgbClr val="000000"/>
                </a:solidFill>
                <a:latin typeface="Arimo Bold"/>
                <a:ea typeface="Arimo Bold"/>
                <a:cs typeface="Arimo Bold"/>
                <a:sym typeface="Arimo Bold"/>
              </a:rPr>
              <a:t>HOD</a:t>
            </a:r>
          </a:p>
        </p:txBody>
      </p:sp>
      <p:sp>
        <p:nvSpPr>
          <p:cNvPr name="TextBox 17" id="17"/>
          <p:cNvSpPr txBox="true"/>
          <p:nvPr/>
        </p:nvSpPr>
        <p:spPr>
          <a:xfrm rot="0">
            <a:off x="7834610" y="8408908"/>
            <a:ext cx="2618780" cy="440373"/>
          </a:xfrm>
          <a:prstGeom prst="rect">
            <a:avLst/>
          </a:prstGeom>
        </p:spPr>
        <p:txBody>
          <a:bodyPr anchor="t" rtlCol="false" tIns="0" lIns="0" bIns="0" rIns="0">
            <a:spAutoFit/>
          </a:bodyPr>
          <a:lstStyle/>
          <a:p>
            <a:pPr algn="ctr">
              <a:lnSpc>
                <a:spcPts val="3312"/>
              </a:lnSpc>
              <a:spcBef>
                <a:spcPct val="0"/>
              </a:spcBef>
            </a:pPr>
            <a:r>
              <a:rPr lang="en-US" sz="2649">
                <a:solidFill>
                  <a:srgbClr val="000000"/>
                </a:solidFill>
                <a:latin typeface="Arimo"/>
                <a:ea typeface="Arimo"/>
                <a:cs typeface="Arimo"/>
                <a:sym typeface="Arimo"/>
              </a:rPr>
              <a:t>Dr Kanagavalli R </a:t>
            </a:r>
          </a:p>
        </p:txBody>
      </p:sp>
      <p:sp>
        <p:nvSpPr>
          <p:cNvPr name="TextBox 18" id="18"/>
          <p:cNvSpPr txBox="true"/>
          <p:nvPr/>
        </p:nvSpPr>
        <p:spPr>
          <a:xfrm rot="0">
            <a:off x="13203047" y="7187751"/>
            <a:ext cx="674340" cy="384493"/>
          </a:xfrm>
          <a:prstGeom prst="rect">
            <a:avLst/>
          </a:prstGeom>
        </p:spPr>
        <p:txBody>
          <a:bodyPr anchor="t" rtlCol="false" tIns="0" lIns="0" bIns="0" rIns="0">
            <a:spAutoFit/>
          </a:bodyPr>
          <a:lstStyle/>
          <a:p>
            <a:pPr algn="ctr">
              <a:lnSpc>
                <a:spcPts val="3062"/>
              </a:lnSpc>
              <a:spcBef>
                <a:spcPct val="0"/>
              </a:spcBef>
            </a:pPr>
            <a:r>
              <a:rPr lang="en-US" b="true" sz="2449">
                <a:solidFill>
                  <a:srgbClr val="000000"/>
                </a:solidFill>
                <a:latin typeface="Arimo Bold"/>
                <a:ea typeface="Arimo Bold"/>
                <a:cs typeface="Arimo Bold"/>
                <a:sym typeface="Arimo Bold"/>
              </a:rPr>
              <a:t>By - </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7938" y="-7938"/>
            <a:ext cx="18303875" cy="10302875"/>
            <a:chOff x="0" y="0"/>
            <a:chExt cx="24405167" cy="13737167"/>
          </a:xfrm>
        </p:grpSpPr>
        <p:sp>
          <p:nvSpPr>
            <p:cNvPr name="Freeform 3" id="3"/>
            <p:cNvSpPr/>
            <p:nvPr/>
          </p:nvSpPr>
          <p:spPr>
            <a:xfrm flipH="false" flipV="false" rot="0">
              <a:off x="10541" y="10541"/>
              <a:ext cx="24383999" cy="13715999"/>
            </a:xfrm>
            <a:custGeom>
              <a:avLst/>
              <a:gdLst/>
              <a:ahLst/>
              <a:cxnLst/>
              <a:rect r="r" b="b" t="t" l="l"/>
              <a:pathLst>
                <a:path h="13715999" w="24383999">
                  <a:moveTo>
                    <a:pt x="0" y="0"/>
                  </a:moveTo>
                  <a:lnTo>
                    <a:pt x="24383999" y="0"/>
                  </a:lnTo>
                  <a:lnTo>
                    <a:pt x="24383999" y="13715999"/>
                  </a:lnTo>
                  <a:lnTo>
                    <a:pt x="0" y="13715999"/>
                  </a:lnTo>
                  <a:close/>
                </a:path>
              </a:pathLst>
            </a:custGeom>
            <a:solidFill>
              <a:srgbClr val="EDF1F8"/>
            </a:solidFill>
          </p:spPr>
        </p:sp>
      </p:grpSp>
      <p:grpSp>
        <p:nvGrpSpPr>
          <p:cNvPr name="Group 4" id="4"/>
          <p:cNvGrpSpPr/>
          <p:nvPr/>
        </p:nvGrpSpPr>
        <p:grpSpPr>
          <a:xfrm rot="0">
            <a:off x="-7938" y="-7938"/>
            <a:ext cx="18303875" cy="10302875"/>
            <a:chOff x="0" y="0"/>
            <a:chExt cx="24405167" cy="13737167"/>
          </a:xfrm>
        </p:grpSpPr>
        <p:sp>
          <p:nvSpPr>
            <p:cNvPr name="Freeform 5" id="5"/>
            <p:cNvSpPr/>
            <p:nvPr/>
          </p:nvSpPr>
          <p:spPr>
            <a:xfrm flipH="false" flipV="false" rot="0">
              <a:off x="10541" y="10541"/>
              <a:ext cx="24383999" cy="13715999"/>
            </a:xfrm>
            <a:custGeom>
              <a:avLst/>
              <a:gdLst/>
              <a:ahLst/>
              <a:cxnLst/>
              <a:rect r="r" b="b" t="t" l="l"/>
              <a:pathLst>
                <a:path h="13715999" w="24383999">
                  <a:moveTo>
                    <a:pt x="0" y="0"/>
                  </a:moveTo>
                  <a:lnTo>
                    <a:pt x="24383999" y="0"/>
                  </a:lnTo>
                  <a:lnTo>
                    <a:pt x="24383999" y="13715999"/>
                  </a:lnTo>
                  <a:lnTo>
                    <a:pt x="0" y="13715999"/>
                  </a:lnTo>
                  <a:close/>
                </a:path>
              </a:pathLst>
            </a:custGeom>
            <a:solidFill>
              <a:srgbClr val="FBFCFE"/>
            </a:solidFill>
          </p:spPr>
        </p:sp>
      </p:grpSp>
      <p:sp>
        <p:nvSpPr>
          <p:cNvPr name="TextBox 6" id="6"/>
          <p:cNvSpPr txBox="true"/>
          <p:nvPr/>
        </p:nvSpPr>
        <p:spPr>
          <a:xfrm rot="0">
            <a:off x="901401" y="1225007"/>
            <a:ext cx="4556160" cy="860425"/>
          </a:xfrm>
          <a:prstGeom prst="rect">
            <a:avLst/>
          </a:prstGeom>
        </p:spPr>
        <p:txBody>
          <a:bodyPr anchor="t" rtlCol="false" tIns="0" lIns="0" bIns="0" rIns="0">
            <a:spAutoFit/>
          </a:bodyPr>
          <a:lstStyle/>
          <a:p>
            <a:pPr algn="l">
              <a:lnSpc>
                <a:spcPts val="6875"/>
              </a:lnSpc>
            </a:pPr>
            <a:r>
              <a:rPr lang="en-US" sz="5500">
                <a:solidFill>
                  <a:srgbClr val="3257B8"/>
                </a:solidFill>
                <a:latin typeface="Roboto Slab"/>
                <a:ea typeface="Roboto Slab"/>
                <a:cs typeface="Roboto Slab"/>
                <a:sym typeface="Roboto Slab"/>
              </a:rPr>
              <a:t>Introduction </a:t>
            </a:r>
          </a:p>
        </p:txBody>
      </p:sp>
      <p:sp>
        <p:nvSpPr>
          <p:cNvPr name="TextBox 7" id="7"/>
          <p:cNvSpPr txBox="true"/>
          <p:nvPr/>
        </p:nvSpPr>
        <p:spPr>
          <a:xfrm rot="0">
            <a:off x="836424" y="2619820"/>
            <a:ext cx="16319402" cy="6972300"/>
          </a:xfrm>
          <a:prstGeom prst="rect">
            <a:avLst/>
          </a:prstGeom>
        </p:spPr>
        <p:txBody>
          <a:bodyPr anchor="t" rtlCol="false" tIns="0" lIns="0" bIns="0" rIns="0">
            <a:spAutoFit/>
          </a:bodyPr>
          <a:lstStyle/>
          <a:p>
            <a:pPr algn="just">
              <a:lnSpc>
                <a:spcPts val="2400"/>
              </a:lnSpc>
            </a:pPr>
            <a:r>
              <a:rPr lang="en-US" sz="2000">
                <a:solidFill>
                  <a:srgbClr val="000000"/>
                </a:solidFill>
                <a:latin typeface="Arab Times"/>
                <a:ea typeface="Arab Times"/>
                <a:cs typeface="Arab Times"/>
                <a:sym typeface="Arab Times"/>
              </a:rPr>
              <a:t>In  today's digital world, businesses face the modern cloud paradox: escalating costs with nearly 30% wasted spend, reactive management that hurts user experience, and expanding security risks.</a:t>
            </a:r>
          </a:p>
          <a:p>
            <a:pPr algn="just">
              <a:lnSpc>
                <a:spcPts val="2400"/>
              </a:lnSpc>
            </a:pPr>
          </a:p>
          <a:p>
            <a:pPr algn="just">
              <a:lnSpc>
                <a:spcPts val="2400"/>
              </a:lnSpc>
            </a:pPr>
            <a:r>
              <a:rPr lang="en-US" sz="2000">
                <a:solidFill>
                  <a:srgbClr val="000000"/>
                </a:solidFill>
                <a:latin typeface="Arab Times"/>
                <a:ea typeface="Arab Times"/>
                <a:cs typeface="Arab Times"/>
                <a:sym typeface="Arab Times"/>
              </a:rPr>
              <a:t>To solve these challenges, we introduce the </a:t>
            </a:r>
            <a:r>
              <a:rPr lang="en-US" sz="2000">
                <a:solidFill>
                  <a:srgbClr val="000000"/>
                </a:solidFill>
                <a:latin typeface="Arab Times"/>
                <a:ea typeface="Arab Times"/>
                <a:cs typeface="Arab Times"/>
                <a:sym typeface="Arab Times"/>
              </a:rPr>
              <a:t>Intelligent Cloud Resource Optimization Platform</a:t>
            </a:r>
            <a:r>
              <a:rPr lang="en-US" sz="2000">
                <a:solidFill>
                  <a:srgbClr val="000000"/>
                </a:solidFill>
                <a:latin typeface="Arab Times"/>
                <a:ea typeface="Arab Times"/>
                <a:cs typeface="Arab Times"/>
                <a:sym typeface="Arab Times"/>
              </a:rPr>
              <a:t>.</a:t>
            </a:r>
          </a:p>
          <a:p>
            <a:pPr algn="just">
              <a:lnSpc>
                <a:spcPts val="2400"/>
              </a:lnSpc>
            </a:pPr>
            <a:r>
              <a:rPr lang="en-US" sz="2000">
                <a:solidFill>
                  <a:srgbClr val="000000"/>
                </a:solidFill>
                <a:latin typeface="Arab Times"/>
                <a:ea typeface="Arab Times"/>
                <a:cs typeface="Arab Times"/>
                <a:sym typeface="Arab Times"/>
              </a:rPr>
              <a:t>Our platform is a unified, AI-driven solution that transforms multi-cloud management. It shifts operations from a manual, reactive model to a fully automated and predictive one, providing a single control plane for complete visibility. This enables organizations to proactively cut costs, guarantee application performance, and automate security across their entire cloud ecosystem.</a:t>
            </a:r>
          </a:p>
          <a:p>
            <a:pPr algn="just">
              <a:lnSpc>
                <a:spcPts val="2400"/>
              </a:lnSpc>
            </a:pPr>
          </a:p>
          <a:p>
            <a:pPr algn="just">
              <a:lnSpc>
                <a:spcPts val="2400"/>
              </a:lnSpc>
            </a:pPr>
            <a:r>
              <a:rPr lang="en-US" sz="2000">
                <a:solidFill>
                  <a:srgbClr val="000000"/>
                </a:solidFill>
                <a:latin typeface="Arab Times"/>
                <a:ea typeface="Arab Times"/>
                <a:cs typeface="Arab Times"/>
                <a:sym typeface="Arab Times"/>
              </a:rPr>
              <a:t>The platform delivers on this promise through three core pillars:</a:t>
            </a:r>
          </a:p>
          <a:p>
            <a:pPr algn="just">
              <a:lnSpc>
                <a:spcPts val="2400"/>
              </a:lnSpc>
            </a:pPr>
          </a:p>
          <a:p>
            <a:pPr algn="just" marL="431801" indent="-215900" lvl="1">
              <a:lnSpc>
                <a:spcPts val="2400"/>
              </a:lnSpc>
              <a:buFont typeface="Arial"/>
              <a:buChar char="•"/>
            </a:pPr>
            <a:r>
              <a:rPr lang="en-US" sz="2000">
                <a:solidFill>
                  <a:srgbClr val="000000"/>
                </a:solidFill>
                <a:latin typeface="Arab Times"/>
                <a:ea typeface="Arab Times"/>
                <a:cs typeface="Arab Times"/>
                <a:sym typeface="Arab Times"/>
              </a:rPr>
              <a:t>Intelligent Storage Management:</a:t>
            </a:r>
            <a:r>
              <a:rPr lang="en-US" sz="2000">
                <a:solidFill>
                  <a:srgbClr val="000000"/>
                </a:solidFill>
                <a:latin typeface="Arab Times"/>
                <a:ea typeface="Arab Times"/>
                <a:cs typeface="Arab Times"/>
                <a:sym typeface="Arab Times"/>
              </a:rPr>
              <a:t> We leverage machine learning to analyze data access patterns, automatically tiering files to the most cost-effective storage layers and even predicting the optimal placement for new data on upload. This directly attacks the largest source of wasted spend.</a:t>
            </a:r>
          </a:p>
          <a:p>
            <a:pPr algn="just">
              <a:lnSpc>
                <a:spcPts val="2400"/>
              </a:lnSpc>
            </a:pPr>
          </a:p>
          <a:p>
            <a:pPr algn="just" marL="431801" indent="-215900" lvl="1">
              <a:lnSpc>
                <a:spcPts val="2400"/>
              </a:lnSpc>
              <a:buFont typeface="Arial"/>
              <a:buChar char="•"/>
            </a:pPr>
            <a:r>
              <a:rPr lang="en-US" sz="2000">
                <a:solidFill>
                  <a:srgbClr val="000000"/>
                </a:solidFill>
                <a:latin typeface="Arab Times"/>
                <a:ea typeface="Arab Times"/>
                <a:cs typeface="Arab Times"/>
                <a:sym typeface="Arab Times"/>
              </a:rPr>
              <a:t>Advanced Dynamic Computing:</a:t>
            </a:r>
            <a:r>
              <a:rPr lang="en-US" sz="2000">
                <a:solidFill>
                  <a:srgbClr val="000000"/>
                </a:solidFill>
                <a:latin typeface="Arab Times"/>
                <a:ea typeface="Arab Times"/>
                <a:cs typeface="Arab Times"/>
                <a:sym typeface="Arab Times"/>
              </a:rPr>
              <a:t> Our system moves beyond simple autoscaling. It uses predictive analytics to forecast future workload demands and proactively scales compute resources </a:t>
            </a:r>
            <a:r>
              <a:rPr lang="en-US" sz="2000" i="true">
                <a:solidFill>
                  <a:srgbClr val="000000"/>
                </a:solidFill>
                <a:latin typeface="Arab Times"/>
                <a:ea typeface="Arab Times"/>
                <a:cs typeface="Arab Times"/>
                <a:sym typeface="Arab Times"/>
              </a:rPr>
              <a:t>before</a:t>
            </a:r>
            <a:r>
              <a:rPr lang="en-US" sz="2000">
                <a:solidFill>
                  <a:srgbClr val="000000"/>
                </a:solidFill>
                <a:latin typeface="Arab Times"/>
                <a:ea typeface="Arab Times"/>
                <a:cs typeface="Arab Times"/>
                <a:sym typeface="Arab Times"/>
              </a:rPr>
              <a:t> a spike occurs, guaranteeing seamless application performance and eliminating over-provisioning.</a:t>
            </a:r>
          </a:p>
          <a:p>
            <a:pPr algn="just">
              <a:lnSpc>
                <a:spcPts val="2400"/>
              </a:lnSpc>
            </a:pPr>
          </a:p>
          <a:p>
            <a:pPr algn="just" marL="431801" indent="-215900" lvl="1">
              <a:lnSpc>
                <a:spcPts val="2400"/>
              </a:lnSpc>
              <a:buFont typeface="Arial"/>
              <a:buChar char="•"/>
            </a:pPr>
            <a:r>
              <a:rPr lang="en-US" sz="2000">
                <a:solidFill>
                  <a:srgbClr val="000000"/>
                </a:solidFill>
                <a:latin typeface="Arab Times"/>
                <a:ea typeface="Arab Times"/>
                <a:cs typeface="Arab Times"/>
                <a:sym typeface="Arab Times"/>
              </a:rPr>
              <a:t>Proactive Security and Observability:</a:t>
            </a:r>
            <a:r>
              <a:rPr lang="en-US" sz="2000">
                <a:solidFill>
                  <a:srgbClr val="000000"/>
                </a:solidFill>
                <a:latin typeface="Arab Times"/>
                <a:ea typeface="Arab Times"/>
                <a:cs typeface="Arab Times"/>
                <a:sym typeface="Arab Times"/>
              </a:rPr>
              <a:t> We embed security into your cloud operations by automatically detecting and encrypting sensitive data, managing access with temporary, least-privilege credentials, and logging every action in a centralized, auditable system.</a:t>
            </a:r>
          </a:p>
          <a:p>
            <a:pPr algn="just" marL="476250" indent="-238125" lvl="1">
              <a:lnSpc>
                <a:spcPts val="2400"/>
              </a:lnSpc>
            </a:pPr>
            <a:r>
              <a:rPr lang="en-US" sz="2000">
                <a:solidFill>
                  <a:srgbClr val="000000"/>
                </a:solidFill>
                <a:latin typeface="Arab Times"/>
                <a:ea typeface="Arab Times"/>
                <a:cs typeface="Arab Times"/>
                <a:sym typeface="Arab Times"/>
              </a:rPr>
              <a:t>In essence, the Intelligent Cloud Resource Optimization Platform empowers organizations to finally realize the full promise of the cloud—maximum efficiency, peak performance, and robust security—all managed effortlessly through a single, intelligent system.</a:t>
            </a: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7938" y="-7938"/>
            <a:ext cx="18303875" cy="10302875"/>
            <a:chOff x="0" y="0"/>
            <a:chExt cx="24405167" cy="13737167"/>
          </a:xfrm>
        </p:grpSpPr>
        <p:sp>
          <p:nvSpPr>
            <p:cNvPr name="Freeform 3" id="3"/>
            <p:cNvSpPr/>
            <p:nvPr/>
          </p:nvSpPr>
          <p:spPr>
            <a:xfrm flipH="false" flipV="false" rot="0">
              <a:off x="10541" y="10541"/>
              <a:ext cx="24383999" cy="13715999"/>
            </a:xfrm>
            <a:custGeom>
              <a:avLst/>
              <a:gdLst/>
              <a:ahLst/>
              <a:cxnLst/>
              <a:rect r="r" b="b" t="t" l="l"/>
              <a:pathLst>
                <a:path h="13715999" w="24383999">
                  <a:moveTo>
                    <a:pt x="0" y="0"/>
                  </a:moveTo>
                  <a:lnTo>
                    <a:pt x="24383999" y="0"/>
                  </a:lnTo>
                  <a:lnTo>
                    <a:pt x="24383999" y="13715999"/>
                  </a:lnTo>
                  <a:lnTo>
                    <a:pt x="0" y="13715999"/>
                  </a:lnTo>
                  <a:close/>
                </a:path>
              </a:pathLst>
            </a:custGeom>
            <a:solidFill>
              <a:srgbClr val="EDF1F8"/>
            </a:solidFill>
          </p:spPr>
        </p:sp>
      </p:grpSp>
      <p:grpSp>
        <p:nvGrpSpPr>
          <p:cNvPr name="Group 4" id="4"/>
          <p:cNvGrpSpPr/>
          <p:nvPr/>
        </p:nvGrpSpPr>
        <p:grpSpPr>
          <a:xfrm rot="0">
            <a:off x="-7938" y="-7938"/>
            <a:ext cx="18303875" cy="10302875"/>
            <a:chOff x="0" y="0"/>
            <a:chExt cx="24405167" cy="13737167"/>
          </a:xfrm>
        </p:grpSpPr>
        <p:sp>
          <p:nvSpPr>
            <p:cNvPr name="Freeform 5" id="5"/>
            <p:cNvSpPr/>
            <p:nvPr/>
          </p:nvSpPr>
          <p:spPr>
            <a:xfrm flipH="false" flipV="false" rot="0">
              <a:off x="10541" y="10541"/>
              <a:ext cx="24383999" cy="13715999"/>
            </a:xfrm>
            <a:custGeom>
              <a:avLst/>
              <a:gdLst/>
              <a:ahLst/>
              <a:cxnLst/>
              <a:rect r="r" b="b" t="t" l="l"/>
              <a:pathLst>
                <a:path h="13715999" w="24383999">
                  <a:moveTo>
                    <a:pt x="0" y="0"/>
                  </a:moveTo>
                  <a:lnTo>
                    <a:pt x="24383999" y="0"/>
                  </a:lnTo>
                  <a:lnTo>
                    <a:pt x="24383999" y="13715999"/>
                  </a:lnTo>
                  <a:lnTo>
                    <a:pt x="0" y="13715999"/>
                  </a:lnTo>
                  <a:close/>
                </a:path>
              </a:pathLst>
            </a:custGeom>
            <a:solidFill>
              <a:srgbClr val="FBFCFE"/>
            </a:solidFill>
          </p:spPr>
        </p:sp>
      </p:grpSp>
      <p:grpSp>
        <p:nvGrpSpPr>
          <p:cNvPr name="Group 6" id="6"/>
          <p:cNvGrpSpPr>
            <a:grpSpLocks noChangeAspect="true"/>
          </p:cNvGrpSpPr>
          <p:nvPr/>
        </p:nvGrpSpPr>
        <p:grpSpPr>
          <a:xfrm rot="0">
            <a:off x="4563986" y="2517676"/>
            <a:ext cx="866429" cy="866429"/>
            <a:chOff x="0" y="0"/>
            <a:chExt cx="1155238" cy="1155238"/>
          </a:xfrm>
        </p:grpSpPr>
        <p:sp>
          <p:nvSpPr>
            <p:cNvPr name="Freeform 7" id="7" descr="Image 1"/>
            <p:cNvSpPr/>
            <p:nvPr/>
          </p:nvSpPr>
          <p:spPr>
            <a:xfrm flipH="false" flipV="false" rot="0">
              <a:off x="0" y="0"/>
              <a:ext cx="1155192" cy="1155192"/>
            </a:xfrm>
            <a:custGeom>
              <a:avLst/>
              <a:gdLst/>
              <a:ahLst/>
              <a:cxnLst/>
              <a:rect r="r" b="b" t="t" l="l"/>
              <a:pathLst>
                <a:path h="1155192" w="1155192">
                  <a:moveTo>
                    <a:pt x="0" y="0"/>
                  </a:moveTo>
                  <a:lnTo>
                    <a:pt x="1155192" y="0"/>
                  </a:lnTo>
                  <a:lnTo>
                    <a:pt x="1155192" y="1155192"/>
                  </a:lnTo>
                  <a:lnTo>
                    <a:pt x="0" y="1155192"/>
                  </a:lnTo>
                  <a:lnTo>
                    <a:pt x="0" y="0"/>
                  </a:lnTo>
                  <a:close/>
                </a:path>
              </a:pathLst>
            </a:custGeom>
            <a:blipFill>
              <a:blip r:embed="rId2"/>
              <a:stretch>
                <a:fillRect l="0" t="0" r="-4" b="-4"/>
              </a:stretch>
            </a:blipFill>
          </p:spPr>
        </p:sp>
      </p:grpSp>
      <p:grpSp>
        <p:nvGrpSpPr>
          <p:cNvPr name="Group 8" id="8"/>
          <p:cNvGrpSpPr>
            <a:grpSpLocks noChangeAspect="true"/>
          </p:cNvGrpSpPr>
          <p:nvPr/>
        </p:nvGrpSpPr>
        <p:grpSpPr>
          <a:xfrm rot="0">
            <a:off x="12857435" y="2517676"/>
            <a:ext cx="866429" cy="866429"/>
            <a:chOff x="0" y="0"/>
            <a:chExt cx="1155238" cy="1155238"/>
          </a:xfrm>
        </p:grpSpPr>
        <p:sp>
          <p:nvSpPr>
            <p:cNvPr name="Freeform 9" id="9" descr="Image 3"/>
            <p:cNvSpPr/>
            <p:nvPr/>
          </p:nvSpPr>
          <p:spPr>
            <a:xfrm flipH="false" flipV="false" rot="0">
              <a:off x="0" y="0"/>
              <a:ext cx="1155192" cy="1155192"/>
            </a:xfrm>
            <a:custGeom>
              <a:avLst/>
              <a:gdLst/>
              <a:ahLst/>
              <a:cxnLst/>
              <a:rect r="r" b="b" t="t" l="l"/>
              <a:pathLst>
                <a:path h="1155192" w="1155192">
                  <a:moveTo>
                    <a:pt x="0" y="0"/>
                  </a:moveTo>
                  <a:lnTo>
                    <a:pt x="1155192" y="0"/>
                  </a:lnTo>
                  <a:lnTo>
                    <a:pt x="1155192" y="1155192"/>
                  </a:lnTo>
                  <a:lnTo>
                    <a:pt x="0" y="1155192"/>
                  </a:lnTo>
                  <a:lnTo>
                    <a:pt x="0" y="0"/>
                  </a:lnTo>
                  <a:close/>
                </a:path>
              </a:pathLst>
            </a:custGeom>
            <a:blipFill>
              <a:blip r:embed="rId2"/>
              <a:stretch>
                <a:fillRect l="0" t="0" r="-4" b="-4"/>
              </a:stretch>
            </a:blipFill>
          </p:spPr>
        </p:sp>
      </p:grpSp>
      <p:grpSp>
        <p:nvGrpSpPr>
          <p:cNvPr name="Group 10" id="10"/>
          <p:cNvGrpSpPr>
            <a:grpSpLocks noChangeAspect="true"/>
          </p:cNvGrpSpPr>
          <p:nvPr/>
        </p:nvGrpSpPr>
        <p:grpSpPr>
          <a:xfrm rot="0">
            <a:off x="4563986" y="6230640"/>
            <a:ext cx="866429" cy="866429"/>
            <a:chOff x="0" y="0"/>
            <a:chExt cx="1155238" cy="1155238"/>
          </a:xfrm>
        </p:grpSpPr>
        <p:sp>
          <p:nvSpPr>
            <p:cNvPr name="Freeform 11" id="11" descr="Image 5"/>
            <p:cNvSpPr/>
            <p:nvPr/>
          </p:nvSpPr>
          <p:spPr>
            <a:xfrm flipH="false" flipV="false" rot="0">
              <a:off x="0" y="0"/>
              <a:ext cx="1155192" cy="1155192"/>
            </a:xfrm>
            <a:custGeom>
              <a:avLst/>
              <a:gdLst/>
              <a:ahLst/>
              <a:cxnLst/>
              <a:rect r="r" b="b" t="t" l="l"/>
              <a:pathLst>
                <a:path h="1155192" w="1155192">
                  <a:moveTo>
                    <a:pt x="0" y="0"/>
                  </a:moveTo>
                  <a:lnTo>
                    <a:pt x="1155192" y="0"/>
                  </a:lnTo>
                  <a:lnTo>
                    <a:pt x="1155192" y="1155192"/>
                  </a:lnTo>
                  <a:lnTo>
                    <a:pt x="0" y="1155192"/>
                  </a:lnTo>
                  <a:lnTo>
                    <a:pt x="0" y="0"/>
                  </a:lnTo>
                  <a:close/>
                </a:path>
              </a:pathLst>
            </a:custGeom>
            <a:blipFill>
              <a:blip r:embed="rId2"/>
              <a:stretch>
                <a:fillRect l="0" t="0" r="-4" b="-4"/>
              </a:stretch>
            </a:blipFill>
          </p:spPr>
        </p:sp>
      </p:grpSp>
      <p:sp>
        <p:nvSpPr>
          <p:cNvPr name="Freeform 12" id="12"/>
          <p:cNvSpPr/>
          <p:nvPr/>
        </p:nvSpPr>
        <p:spPr>
          <a:xfrm flipH="false" flipV="false" rot="0">
            <a:off x="-3222659" y="3057610"/>
            <a:ext cx="16080094" cy="6989291"/>
          </a:xfrm>
          <a:custGeom>
            <a:avLst/>
            <a:gdLst/>
            <a:ahLst/>
            <a:cxnLst/>
            <a:rect r="r" b="b" t="t" l="l"/>
            <a:pathLst>
              <a:path h="6989291" w="16080094">
                <a:moveTo>
                  <a:pt x="0" y="0"/>
                </a:moveTo>
                <a:lnTo>
                  <a:pt x="16080094" y="0"/>
                </a:lnTo>
                <a:lnTo>
                  <a:pt x="16080094" y="6989291"/>
                </a:lnTo>
                <a:lnTo>
                  <a:pt x="0" y="6989291"/>
                </a:lnTo>
                <a:lnTo>
                  <a:pt x="0" y="0"/>
                </a:lnTo>
                <a:close/>
              </a:path>
            </a:pathLst>
          </a:custGeom>
          <a:blipFill>
            <a:blip r:embed="rId3"/>
            <a:stretch>
              <a:fillRect l="-2238" t="-22939" r="-7241" b="-5519"/>
            </a:stretch>
          </a:blipFill>
        </p:spPr>
      </p:sp>
      <p:sp>
        <p:nvSpPr>
          <p:cNvPr name="TextBox 13" id="13"/>
          <p:cNvSpPr txBox="true"/>
          <p:nvPr/>
        </p:nvSpPr>
        <p:spPr>
          <a:xfrm rot="0">
            <a:off x="13112525" y="6338540"/>
            <a:ext cx="217159" cy="629120"/>
          </a:xfrm>
          <a:prstGeom prst="rect">
            <a:avLst/>
          </a:prstGeom>
        </p:spPr>
        <p:txBody>
          <a:bodyPr anchor="t" rtlCol="false" tIns="0" lIns="0" bIns="0" rIns="0">
            <a:spAutoFit/>
          </a:bodyPr>
          <a:lstStyle/>
          <a:p>
            <a:pPr algn="l">
              <a:lnSpc>
                <a:spcPts val="4250"/>
              </a:lnSpc>
            </a:pPr>
            <a:r>
              <a:rPr lang="en-US" sz="2625">
                <a:solidFill>
                  <a:srgbClr val="FFFFFF"/>
                </a:solidFill>
                <a:latin typeface="Roboto Slab"/>
                <a:ea typeface="Roboto Slab"/>
                <a:cs typeface="Roboto Slab"/>
                <a:sym typeface="Roboto Slab"/>
              </a:rPr>
              <a:t>4</a:t>
            </a:r>
          </a:p>
        </p:txBody>
      </p:sp>
      <p:sp>
        <p:nvSpPr>
          <p:cNvPr name="TextBox 14" id="14"/>
          <p:cNvSpPr txBox="true"/>
          <p:nvPr/>
        </p:nvSpPr>
        <p:spPr>
          <a:xfrm rot="0">
            <a:off x="729333" y="470119"/>
            <a:ext cx="16953679" cy="575515"/>
          </a:xfrm>
          <a:prstGeom prst="rect">
            <a:avLst/>
          </a:prstGeom>
        </p:spPr>
        <p:txBody>
          <a:bodyPr anchor="t" rtlCol="false" tIns="0" lIns="0" bIns="0" rIns="0">
            <a:spAutoFit/>
          </a:bodyPr>
          <a:lstStyle/>
          <a:p>
            <a:pPr algn="l">
              <a:lnSpc>
                <a:spcPts val="4564"/>
              </a:lnSpc>
            </a:pPr>
            <a:r>
              <a:rPr lang="en-US" sz="3651">
                <a:solidFill>
                  <a:srgbClr val="3257B8"/>
                </a:solidFill>
                <a:latin typeface="Roboto Slab"/>
                <a:ea typeface="Roboto Slab"/>
                <a:cs typeface="Roboto Slab"/>
                <a:sym typeface="Roboto Slab"/>
              </a:rPr>
              <a:t>Abstract</a:t>
            </a:r>
          </a:p>
        </p:txBody>
      </p:sp>
      <p:sp>
        <p:nvSpPr>
          <p:cNvPr name="TextBox 15" id="15"/>
          <p:cNvSpPr txBox="true"/>
          <p:nvPr/>
        </p:nvSpPr>
        <p:spPr>
          <a:xfrm rot="0">
            <a:off x="729333" y="1066615"/>
            <a:ext cx="10687050" cy="860425"/>
          </a:xfrm>
          <a:prstGeom prst="rect">
            <a:avLst/>
          </a:prstGeom>
        </p:spPr>
        <p:txBody>
          <a:bodyPr anchor="t" rtlCol="false" tIns="0" lIns="0" bIns="0" rIns="0">
            <a:spAutoFit/>
          </a:bodyPr>
          <a:lstStyle/>
          <a:p>
            <a:pPr algn="ctr">
              <a:lnSpc>
                <a:spcPts val="6874"/>
              </a:lnSpc>
              <a:spcBef>
                <a:spcPct val="0"/>
              </a:spcBef>
            </a:pPr>
            <a:r>
              <a:rPr lang="en-US" sz="5499">
                <a:solidFill>
                  <a:srgbClr val="3257B8"/>
                </a:solidFill>
                <a:latin typeface="Roboto Slab"/>
                <a:ea typeface="Roboto Slab"/>
                <a:cs typeface="Roboto Slab"/>
                <a:sym typeface="Roboto Slab"/>
              </a:rPr>
              <a:t>Intelligent Storage Management</a:t>
            </a:r>
          </a:p>
        </p:txBody>
      </p:sp>
      <p:sp>
        <p:nvSpPr>
          <p:cNvPr name="TextBox 16" id="16"/>
          <p:cNvSpPr txBox="true"/>
          <p:nvPr/>
        </p:nvSpPr>
        <p:spPr>
          <a:xfrm rot="0">
            <a:off x="1028700" y="1917515"/>
            <a:ext cx="11225132" cy="1140095"/>
          </a:xfrm>
          <a:prstGeom prst="rect">
            <a:avLst/>
          </a:prstGeom>
        </p:spPr>
        <p:txBody>
          <a:bodyPr anchor="t" rtlCol="false" tIns="0" lIns="0" bIns="0" rIns="0">
            <a:spAutoFit/>
          </a:bodyPr>
          <a:lstStyle/>
          <a:p>
            <a:pPr algn="just">
              <a:lnSpc>
                <a:spcPts val="2759"/>
              </a:lnSpc>
            </a:pPr>
            <a:r>
              <a:rPr lang="en-US" b="true" sz="2207">
                <a:solidFill>
                  <a:srgbClr val="000000"/>
                </a:solidFill>
                <a:latin typeface="Roboto Slab Bold"/>
                <a:ea typeface="Roboto Slab Bold"/>
                <a:cs typeface="Roboto Slab Bold"/>
                <a:sym typeface="Roboto Slab Bold"/>
              </a:rPr>
              <a:t>Cl</a:t>
            </a:r>
            <a:r>
              <a:rPr lang="en-US" b="true" sz="2207">
                <a:solidFill>
                  <a:srgbClr val="000000"/>
                </a:solidFill>
                <a:latin typeface="Roboto Slab Bold"/>
                <a:ea typeface="Roboto Slab Bold"/>
                <a:cs typeface="Roboto Slab Bold"/>
                <a:sym typeface="Roboto Slab Bold"/>
              </a:rPr>
              <a:t>oud storage tier optimization through storage object classification</a:t>
            </a:r>
          </a:p>
          <a:p>
            <a:pPr algn="just">
              <a:lnSpc>
                <a:spcPts val="2134"/>
              </a:lnSpc>
            </a:pPr>
          </a:p>
          <a:p>
            <a:pPr algn="just">
              <a:lnSpc>
                <a:spcPts val="2134"/>
              </a:lnSpc>
            </a:pPr>
            <a:r>
              <a:rPr lang="en-US" sz="1707">
                <a:solidFill>
                  <a:srgbClr val="000000"/>
                </a:solidFill>
                <a:latin typeface="Roboto Slab"/>
                <a:ea typeface="Roboto Slab"/>
                <a:cs typeface="Roboto Slab"/>
                <a:sym typeface="Roboto Slab"/>
              </a:rPr>
              <a:t>Published: 03 April 2024</a:t>
            </a:r>
          </a:p>
          <a:p>
            <a:pPr algn="just">
              <a:lnSpc>
                <a:spcPts val="2134"/>
              </a:lnSpc>
              <a:spcBef>
                <a:spcPct val="0"/>
              </a:spcBef>
            </a:pPr>
            <a:r>
              <a:rPr lang="en-US" sz="1707">
                <a:solidFill>
                  <a:srgbClr val="000000"/>
                </a:solidFill>
                <a:latin typeface="Roboto Slab"/>
                <a:ea typeface="Roboto Slab"/>
                <a:cs typeface="Roboto Slab"/>
                <a:sym typeface="Roboto Slab"/>
              </a:rPr>
              <a:t>Volume 106, pages 3389–3418, (2024)</a:t>
            </a:r>
          </a:p>
        </p:txBody>
      </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7938" y="-7938"/>
            <a:ext cx="18303875" cy="10302875"/>
            <a:chOff x="0" y="0"/>
            <a:chExt cx="24405167" cy="13737167"/>
          </a:xfrm>
        </p:grpSpPr>
        <p:sp>
          <p:nvSpPr>
            <p:cNvPr name="Freeform 3" id="3"/>
            <p:cNvSpPr/>
            <p:nvPr/>
          </p:nvSpPr>
          <p:spPr>
            <a:xfrm flipH="false" flipV="false" rot="0">
              <a:off x="10541" y="10541"/>
              <a:ext cx="24383999" cy="13715999"/>
            </a:xfrm>
            <a:custGeom>
              <a:avLst/>
              <a:gdLst/>
              <a:ahLst/>
              <a:cxnLst/>
              <a:rect r="r" b="b" t="t" l="l"/>
              <a:pathLst>
                <a:path h="13715999" w="24383999">
                  <a:moveTo>
                    <a:pt x="0" y="0"/>
                  </a:moveTo>
                  <a:lnTo>
                    <a:pt x="24383999" y="0"/>
                  </a:lnTo>
                  <a:lnTo>
                    <a:pt x="24383999" y="13715999"/>
                  </a:lnTo>
                  <a:lnTo>
                    <a:pt x="0" y="13715999"/>
                  </a:lnTo>
                  <a:close/>
                </a:path>
              </a:pathLst>
            </a:custGeom>
            <a:solidFill>
              <a:srgbClr val="EDF1F8"/>
            </a:solidFill>
          </p:spPr>
        </p:sp>
      </p:grpSp>
      <p:grpSp>
        <p:nvGrpSpPr>
          <p:cNvPr name="Group 4" id="4"/>
          <p:cNvGrpSpPr/>
          <p:nvPr/>
        </p:nvGrpSpPr>
        <p:grpSpPr>
          <a:xfrm rot="0">
            <a:off x="9525" y="-7938"/>
            <a:ext cx="18303875" cy="10302875"/>
            <a:chOff x="0" y="0"/>
            <a:chExt cx="24405167" cy="13737167"/>
          </a:xfrm>
        </p:grpSpPr>
        <p:sp>
          <p:nvSpPr>
            <p:cNvPr name="Freeform 5" id="5"/>
            <p:cNvSpPr/>
            <p:nvPr/>
          </p:nvSpPr>
          <p:spPr>
            <a:xfrm flipH="false" flipV="false" rot="0">
              <a:off x="10541" y="10541"/>
              <a:ext cx="24383999" cy="13715999"/>
            </a:xfrm>
            <a:custGeom>
              <a:avLst/>
              <a:gdLst/>
              <a:ahLst/>
              <a:cxnLst/>
              <a:rect r="r" b="b" t="t" l="l"/>
              <a:pathLst>
                <a:path h="13715999" w="24383999">
                  <a:moveTo>
                    <a:pt x="0" y="0"/>
                  </a:moveTo>
                  <a:lnTo>
                    <a:pt x="24383999" y="0"/>
                  </a:lnTo>
                  <a:lnTo>
                    <a:pt x="24383999" y="13715999"/>
                  </a:lnTo>
                  <a:lnTo>
                    <a:pt x="0" y="13715999"/>
                  </a:lnTo>
                  <a:close/>
                </a:path>
              </a:pathLst>
            </a:custGeom>
            <a:solidFill>
              <a:srgbClr val="FBFCFE"/>
            </a:solidFill>
          </p:spPr>
        </p:sp>
      </p:grpSp>
      <p:grpSp>
        <p:nvGrpSpPr>
          <p:cNvPr name="Group 6" id="6"/>
          <p:cNvGrpSpPr/>
          <p:nvPr/>
        </p:nvGrpSpPr>
        <p:grpSpPr>
          <a:xfrm rot="0">
            <a:off x="984300" y="2942877"/>
            <a:ext cx="8025806" cy="3020120"/>
            <a:chOff x="0" y="0"/>
            <a:chExt cx="10701075" cy="4026827"/>
          </a:xfrm>
        </p:grpSpPr>
        <p:sp>
          <p:nvSpPr>
            <p:cNvPr name="Freeform 7" id="7"/>
            <p:cNvSpPr/>
            <p:nvPr/>
          </p:nvSpPr>
          <p:spPr>
            <a:xfrm flipH="false" flipV="false" rot="0">
              <a:off x="10541" y="10541"/>
              <a:ext cx="10679938" cy="4005707"/>
            </a:xfrm>
            <a:custGeom>
              <a:avLst/>
              <a:gdLst/>
              <a:ahLst/>
              <a:cxnLst/>
              <a:rect r="r" b="b" t="t" l="l"/>
              <a:pathLst>
                <a:path h="4005707" w="10679938">
                  <a:moveTo>
                    <a:pt x="0" y="243840"/>
                  </a:moveTo>
                  <a:cubicBezTo>
                    <a:pt x="0" y="109220"/>
                    <a:pt x="109601" y="0"/>
                    <a:pt x="244729" y="0"/>
                  </a:cubicBezTo>
                  <a:lnTo>
                    <a:pt x="10435336" y="0"/>
                  </a:lnTo>
                  <a:cubicBezTo>
                    <a:pt x="10570464" y="0"/>
                    <a:pt x="10679938" y="109220"/>
                    <a:pt x="10679938" y="243840"/>
                  </a:cubicBezTo>
                  <a:lnTo>
                    <a:pt x="10679938" y="3761867"/>
                  </a:lnTo>
                  <a:cubicBezTo>
                    <a:pt x="10679938" y="3896487"/>
                    <a:pt x="10570464" y="4005707"/>
                    <a:pt x="10435336" y="4005707"/>
                  </a:cubicBezTo>
                  <a:lnTo>
                    <a:pt x="244729" y="4005707"/>
                  </a:lnTo>
                  <a:cubicBezTo>
                    <a:pt x="109601" y="4005707"/>
                    <a:pt x="127" y="3896487"/>
                    <a:pt x="127" y="3761867"/>
                  </a:cubicBezTo>
                  <a:close/>
                </a:path>
              </a:pathLst>
            </a:custGeom>
            <a:solidFill>
              <a:srgbClr val="FBFCFE"/>
            </a:solidFill>
          </p:spPr>
        </p:sp>
      </p:grpSp>
      <p:grpSp>
        <p:nvGrpSpPr>
          <p:cNvPr name="Group 8" id="8"/>
          <p:cNvGrpSpPr>
            <a:grpSpLocks noChangeAspect="true"/>
          </p:cNvGrpSpPr>
          <p:nvPr/>
        </p:nvGrpSpPr>
        <p:grpSpPr>
          <a:xfrm rot="0">
            <a:off x="4563986" y="2517676"/>
            <a:ext cx="866429" cy="866429"/>
            <a:chOff x="0" y="0"/>
            <a:chExt cx="1155238" cy="1155238"/>
          </a:xfrm>
        </p:grpSpPr>
        <p:sp>
          <p:nvSpPr>
            <p:cNvPr name="Freeform 9" id="9" descr="Image 1"/>
            <p:cNvSpPr/>
            <p:nvPr/>
          </p:nvSpPr>
          <p:spPr>
            <a:xfrm flipH="false" flipV="false" rot="0">
              <a:off x="0" y="0"/>
              <a:ext cx="1155192" cy="1155192"/>
            </a:xfrm>
            <a:custGeom>
              <a:avLst/>
              <a:gdLst/>
              <a:ahLst/>
              <a:cxnLst/>
              <a:rect r="r" b="b" t="t" l="l"/>
              <a:pathLst>
                <a:path h="1155192" w="1155192">
                  <a:moveTo>
                    <a:pt x="0" y="0"/>
                  </a:moveTo>
                  <a:lnTo>
                    <a:pt x="1155192" y="0"/>
                  </a:lnTo>
                  <a:lnTo>
                    <a:pt x="1155192" y="1155192"/>
                  </a:lnTo>
                  <a:lnTo>
                    <a:pt x="0" y="1155192"/>
                  </a:lnTo>
                  <a:lnTo>
                    <a:pt x="0" y="0"/>
                  </a:lnTo>
                  <a:close/>
                </a:path>
              </a:pathLst>
            </a:custGeom>
            <a:blipFill>
              <a:blip r:embed="rId2"/>
              <a:stretch>
                <a:fillRect l="0" t="0" r="-4" b="-4"/>
              </a:stretch>
            </a:blipFill>
          </p:spPr>
        </p:sp>
      </p:grpSp>
      <p:sp>
        <p:nvSpPr>
          <p:cNvPr name="TextBox 10" id="10"/>
          <p:cNvSpPr txBox="true"/>
          <p:nvPr/>
        </p:nvSpPr>
        <p:spPr>
          <a:xfrm rot="0">
            <a:off x="984300" y="1335908"/>
            <a:ext cx="6390610" cy="493568"/>
          </a:xfrm>
          <a:prstGeom prst="rect">
            <a:avLst/>
          </a:prstGeom>
        </p:spPr>
        <p:txBody>
          <a:bodyPr anchor="t" rtlCol="false" tIns="0" lIns="0" bIns="0" rIns="0">
            <a:spAutoFit/>
          </a:bodyPr>
          <a:lstStyle/>
          <a:p>
            <a:pPr algn="l">
              <a:lnSpc>
                <a:spcPts val="3988"/>
              </a:lnSpc>
            </a:pPr>
            <a:r>
              <a:rPr lang="en-US" sz="3249" b="true">
                <a:solidFill>
                  <a:srgbClr val="15213F"/>
                </a:solidFill>
                <a:latin typeface="Roboto Slab Bold"/>
                <a:ea typeface="Roboto Slab Bold"/>
                <a:cs typeface="Roboto Slab Bold"/>
                <a:sym typeface="Roboto Slab Bold"/>
              </a:rPr>
              <a:t>Predictive &amp; Automated Tiering</a:t>
            </a:r>
          </a:p>
        </p:txBody>
      </p:sp>
      <p:grpSp>
        <p:nvGrpSpPr>
          <p:cNvPr name="Group 11" id="11"/>
          <p:cNvGrpSpPr>
            <a:grpSpLocks noChangeAspect="true"/>
          </p:cNvGrpSpPr>
          <p:nvPr/>
        </p:nvGrpSpPr>
        <p:grpSpPr>
          <a:xfrm rot="0">
            <a:off x="12857435" y="2517676"/>
            <a:ext cx="866429" cy="866429"/>
            <a:chOff x="0" y="0"/>
            <a:chExt cx="1155238" cy="1155238"/>
          </a:xfrm>
        </p:grpSpPr>
        <p:sp>
          <p:nvSpPr>
            <p:cNvPr name="Freeform 12" id="12" descr="Image 3"/>
            <p:cNvSpPr/>
            <p:nvPr/>
          </p:nvSpPr>
          <p:spPr>
            <a:xfrm flipH="false" flipV="false" rot="0">
              <a:off x="0" y="0"/>
              <a:ext cx="1155192" cy="1155192"/>
            </a:xfrm>
            <a:custGeom>
              <a:avLst/>
              <a:gdLst/>
              <a:ahLst/>
              <a:cxnLst/>
              <a:rect r="r" b="b" t="t" l="l"/>
              <a:pathLst>
                <a:path h="1155192" w="1155192">
                  <a:moveTo>
                    <a:pt x="0" y="0"/>
                  </a:moveTo>
                  <a:lnTo>
                    <a:pt x="1155192" y="0"/>
                  </a:lnTo>
                  <a:lnTo>
                    <a:pt x="1155192" y="1155192"/>
                  </a:lnTo>
                  <a:lnTo>
                    <a:pt x="0" y="1155192"/>
                  </a:lnTo>
                  <a:lnTo>
                    <a:pt x="0" y="0"/>
                  </a:lnTo>
                  <a:close/>
                </a:path>
              </a:pathLst>
            </a:custGeom>
            <a:blipFill>
              <a:blip r:embed="rId2"/>
              <a:stretch>
                <a:fillRect l="0" t="0" r="-4" b="-4"/>
              </a:stretch>
            </a:blipFill>
          </p:spPr>
        </p:sp>
      </p:grpSp>
      <p:sp>
        <p:nvSpPr>
          <p:cNvPr name="TextBox 13" id="13"/>
          <p:cNvSpPr txBox="true"/>
          <p:nvPr/>
        </p:nvSpPr>
        <p:spPr>
          <a:xfrm rot="0">
            <a:off x="875094" y="2257116"/>
            <a:ext cx="16270025" cy="6592244"/>
          </a:xfrm>
          <a:prstGeom prst="rect">
            <a:avLst/>
          </a:prstGeom>
        </p:spPr>
        <p:txBody>
          <a:bodyPr anchor="t" rtlCol="false" tIns="0" lIns="0" bIns="0" rIns="0">
            <a:spAutoFit/>
          </a:bodyPr>
          <a:lstStyle/>
          <a:p>
            <a:pPr algn="l">
              <a:lnSpc>
                <a:spcPts val="3689"/>
              </a:lnSpc>
              <a:spcBef>
                <a:spcPct val="0"/>
              </a:spcBef>
            </a:pPr>
            <a:r>
              <a:rPr lang="en-US" b="true" sz="2951">
                <a:solidFill>
                  <a:srgbClr val="000000"/>
                </a:solidFill>
                <a:latin typeface="Roboto Slab Bold"/>
                <a:ea typeface="Roboto Slab Bold"/>
                <a:cs typeface="Roboto Slab Bold"/>
                <a:sym typeface="Roboto Slab Bold"/>
              </a:rPr>
              <a:t>Step 1: Analyze the Upload</a:t>
            </a:r>
          </a:p>
          <a:p>
            <a:pPr algn="l">
              <a:lnSpc>
                <a:spcPts val="3314"/>
              </a:lnSpc>
              <a:spcBef>
                <a:spcPct val="0"/>
              </a:spcBef>
            </a:pPr>
            <a:r>
              <a:rPr lang="en-US" sz="2651">
                <a:solidFill>
                  <a:srgbClr val="000000"/>
                </a:solidFill>
                <a:latin typeface="Roboto Slab"/>
                <a:ea typeface="Roboto Slab"/>
                <a:cs typeface="Roboto Slab"/>
                <a:sym typeface="Roboto Slab"/>
              </a:rPr>
              <a:t>    </a:t>
            </a:r>
            <a:r>
              <a:rPr lang="en-US" sz="2651">
                <a:solidFill>
                  <a:srgbClr val="000000"/>
                </a:solidFill>
                <a:latin typeface="Roboto Slab"/>
                <a:ea typeface="Roboto Slab"/>
                <a:cs typeface="Roboto Slab"/>
                <a:sym typeface="Roboto Slab"/>
              </a:rPr>
              <a:t>The moment a file is uploaded, an S3 Event instantly triggers an AWS Lambda function. This function acts as a quick analyst, immediately extracting key clues about the file's purpose, such as its type, size, and any project tags it might have.</a:t>
            </a:r>
          </a:p>
          <a:p>
            <a:pPr algn="l">
              <a:lnSpc>
                <a:spcPts val="3689"/>
              </a:lnSpc>
              <a:spcBef>
                <a:spcPct val="0"/>
              </a:spcBef>
            </a:pPr>
          </a:p>
          <a:p>
            <a:pPr algn="l">
              <a:lnSpc>
                <a:spcPts val="3689"/>
              </a:lnSpc>
              <a:spcBef>
                <a:spcPct val="0"/>
              </a:spcBef>
            </a:pPr>
            <a:r>
              <a:rPr lang="en-US" b="true" sz="2951">
                <a:solidFill>
                  <a:srgbClr val="000000"/>
                </a:solidFill>
                <a:latin typeface="Roboto Slab Bold"/>
                <a:ea typeface="Roboto Slab Bold"/>
                <a:cs typeface="Roboto Slab Bold"/>
                <a:sym typeface="Roboto Slab Bold"/>
              </a:rPr>
              <a:t>Step 2: Predict the Future</a:t>
            </a:r>
          </a:p>
          <a:p>
            <a:pPr algn="l">
              <a:lnSpc>
                <a:spcPts val="3439"/>
              </a:lnSpc>
              <a:spcBef>
                <a:spcPct val="0"/>
              </a:spcBef>
            </a:pPr>
            <a:r>
              <a:rPr lang="en-US" sz="2751">
                <a:solidFill>
                  <a:srgbClr val="000000"/>
                </a:solidFill>
                <a:latin typeface="Roboto Slab"/>
                <a:ea typeface="Roboto Slab"/>
                <a:cs typeface="Roboto Slab"/>
                <a:sym typeface="Roboto Slab"/>
              </a:rPr>
              <a:t>     </a:t>
            </a:r>
            <a:r>
              <a:rPr lang="en-US" sz="2751">
                <a:solidFill>
                  <a:srgbClr val="000000"/>
                </a:solidFill>
                <a:latin typeface="Roboto Slab"/>
                <a:ea typeface="Roboto Slab"/>
                <a:cs typeface="Roboto Slab"/>
                <a:sym typeface="Roboto Slab"/>
              </a:rPr>
              <a:t>These clues are immediately sent to our XGBoost Machine Learning model, which is hosted on Amazon SageMaker. The model's only job is to make a rapid, intelligent forecast, predicting the likelihood of the file being accessed frequently or rarely in the future.</a:t>
            </a:r>
          </a:p>
          <a:p>
            <a:pPr algn="l">
              <a:lnSpc>
                <a:spcPts val="3689"/>
              </a:lnSpc>
              <a:spcBef>
                <a:spcPct val="0"/>
              </a:spcBef>
            </a:pPr>
          </a:p>
          <a:p>
            <a:pPr algn="l">
              <a:lnSpc>
                <a:spcPts val="3689"/>
              </a:lnSpc>
              <a:spcBef>
                <a:spcPct val="0"/>
              </a:spcBef>
            </a:pPr>
            <a:r>
              <a:rPr lang="en-US" b="true" sz="2951">
                <a:solidFill>
                  <a:srgbClr val="000000"/>
                </a:solidFill>
                <a:latin typeface="Roboto Slab Bold"/>
                <a:ea typeface="Roboto Slab Bold"/>
                <a:cs typeface="Roboto Slab Bold"/>
                <a:sym typeface="Roboto Slab Bold"/>
              </a:rPr>
              <a:t>Step 3: Place with Intelligence</a:t>
            </a:r>
          </a:p>
          <a:p>
            <a:pPr algn="l">
              <a:lnSpc>
                <a:spcPts val="3439"/>
              </a:lnSpc>
              <a:spcBef>
                <a:spcPct val="0"/>
              </a:spcBef>
            </a:pPr>
            <a:r>
              <a:rPr lang="en-US" sz="2751">
                <a:solidFill>
                  <a:srgbClr val="000000"/>
                </a:solidFill>
                <a:latin typeface="Roboto Slab"/>
                <a:ea typeface="Roboto Slab"/>
                <a:cs typeface="Roboto Slab"/>
                <a:sym typeface="Roboto Slab"/>
              </a:rPr>
              <a:t>       </a:t>
            </a:r>
            <a:r>
              <a:rPr lang="en-US" sz="2751">
                <a:solidFill>
                  <a:srgbClr val="000000"/>
                </a:solidFill>
                <a:latin typeface="Roboto Slab"/>
                <a:ea typeface="Roboto Slab"/>
                <a:cs typeface="Roboto Slab"/>
                <a:sym typeface="Roboto Slab"/>
              </a:rPr>
              <a:t>Based on the model's prediction, the Lambda function takes immediate action. It moves the file directly to the most financially sensible storage tier—like S3 Standard for hot data or S3 Glacier for cold data. This single action eliminates the typical 30-90 day waiting period, saving money from the very first second.</a:t>
            </a:r>
          </a:p>
        </p:txBody>
      </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7938" y="-7938"/>
            <a:ext cx="18303875" cy="10302875"/>
            <a:chOff x="0" y="0"/>
            <a:chExt cx="24405167" cy="13737167"/>
          </a:xfrm>
        </p:grpSpPr>
        <p:sp>
          <p:nvSpPr>
            <p:cNvPr name="Freeform 3" id="3"/>
            <p:cNvSpPr/>
            <p:nvPr/>
          </p:nvSpPr>
          <p:spPr>
            <a:xfrm flipH="false" flipV="false" rot="0">
              <a:off x="10541" y="10541"/>
              <a:ext cx="24383999" cy="13715999"/>
            </a:xfrm>
            <a:custGeom>
              <a:avLst/>
              <a:gdLst/>
              <a:ahLst/>
              <a:cxnLst/>
              <a:rect r="r" b="b" t="t" l="l"/>
              <a:pathLst>
                <a:path h="13715999" w="24383999">
                  <a:moveTo>
                    <a:pt x="0" y="0"/>
                  </a:moveTo>
                  <a:lnTo>
                    <a:pt x="24383999" y="0"/>
                  </a:lnTo>
                  <a:lnTo>
                    <a:pt x="24383999" y="13715999"/>
                  </a:lnTo>
                  <a:lnTo>
                    <a:pt x="0" y="13715999"/>
                  </a:lnTo>
                  <a:close/>
                </a:path>
              </a:pathLst>
            </a:custGeom>
            <a:solidFill>
              <a:srgbClr val="EDF1F8"/>
            </a:solidFill>
          </p:spPr>
        </p:sp>
      </p:grpSp>
      <p:grpSp>
        <p:nvGrpSpPr>
          <p:cNvPr name="Group 4" id="4"/>
          <p:cNvGrpSpPr/>
          <p:nvPr/>
        </p:nvGrpSpPr>
        <p:grpSpPr>
          <a:xfrm rot="0">
            <a:off x="-7938" y="-7938"/>
            <a:ext cx="18303875" cy="10302875"/>
            <a:chOff x="0" y="0"/>
            <a:chExt cx="24405167" cy="13737167"/>
          </a:xfrm>
        </p:grpSpPr>
        <p:sp>
          <p:nvSpPr>
            <p:cNvPr name="Freeform 5" id="5"/>
            <p:cNvSpPr/>
            <p:nvPr/>
          </p:nvSpPr>
          <p:spPr>
            <a:xfrm flipH="false" flipV="false" rot="0">
              <a:off x="10541" y="10541"/>
              <a:ext cx="24383999" cy="13715999"/>
            </a:xfrm>
            <a:custGeom>
              <a:avLst/>
              <a:gdLst/>
              <a:ahLst/>
              <a:cxnLst/>
              <a:rect r="r" b="b" t="t" l="l"/>
              <a:pathLst>
                <a:path h="13715999" w="24383999">
                  <a:moveTo>
                    <a:pt x="0" y="0"/>
                  </a:moveTo>
                  <a:lnTo>
                    <a:pt x="24383999" y="0"/>
                  </a:lnTo>
                  <a:lnTo>
                    <a:pt x="24383999" y="13715999"/>
                  </a:lnTo>
                  <a:lnTo>
                    <a:pt x="0" y="13715999"/>
                  </a:lnTo>
                  <a:close/>
                </a:path>
              </a:pathLst>
            </a:custGeom>
            <a:solidFill>
              <a:srgbClr val="FBFCFE"/>
            </a:solidFill>
          </p:spPr>
        </p:sp>
      </p:grpSp>
      <p:grpSp>
        <p:nvGrpSpPr>
          <p:cNvPr name="Group 6" id="6"/>
          <p:cNvGrpSpPr/>
          <p:nvPr/>
        </p:nvGrpSpPr>
        <p:grpSpPr>
          <a:xfrm rot="0">
            <a:off x="984300" y="2942877"/>
            <a:ext cx="8025806" cy="3020120"/>
            <a:chOff x="0" y="0"/>
            <a:chExt cx="10701075" cy="4026827"/>
          </a:xfrm>
        </p:grpSpPr>
        <p:sp>
          <p:nvSpPr>
            <p:cNvPr name="Freeform 7" id="7"/>
            <p:cNvSpPr/>
            <p:nvPr/>
          </p:nvSpPr>
          <p:spPr>
            <a:xfrm flipH="false" flipV="false" rot="0">
              <a:off x="10541" y="10541"/>
              <a:ext cx="10679938" cy="4005707"/>
            </a:xfrm>
            <a:custGeom>
              <a:avLst/>
              <a:gdLst/>
              <a:ahLst/>
              <a:cxnLst/>
              <a:rect r="r" b="b" t="t" l="l"/>
              <a:pathLst>
                <a:path h="4005707" w="10679938">
                  <a:moveTo>
                    <a:pt x="0" y="243840"/>
                  </a:moveTo>
                  <a:cubicBezTo>
                    <a:pt x="0" y="109220"/>
                    <a:pt x="109601" y="0"/>
                    <a:pt x="244729" y="0"/>
                  </a:cubicBezTo>
                  <a:lnTo>
                    <a:pt x="10435336" y="0"/>
                  </a:lnTo>
                  <a:cubicBezTo>
                    <a:pt x="10570464" y="0"/>
                    <a:pt x="10679938" y="109220"/>
                    <a:pt x="10679938" y="243840"/>
                  </a:cubicBezTo>
                  <a:lnTo>
                    <a:pt x="10679938" y="3761867"/>
                  </a:lnTo>
                  <a:cubicBezTo>
                    <a:pt x="10679938" y="3896487"/>
                    <a:pt x="10570464" y="4005707"/>
                    <a:pt x="10435336" y="4005707"/>
                  </a:cubicBezTo>
                  <a:lnTo>
                    <a:pt x="244729" y="4005707"/>
                  </a:lnTo>
                  <a:cubicBezTo>
                    <a:pt x="109601" y="4005707"/>
                    <a:pt x="127" y="3896487"/>
                    <a:pt x="127" y="3761867"/>
                  </a:cubicBezTo>
                  <a:close/>
                </a:path>
              </a:pathLst>
            </a:custGeom>
            <a:solidFill>
              <a:srgbClr val="FBFCFE"/>
            </a:solidFill>
          </p:spPr>
        </p:sp>
      </p:grpSp>
      <p:grpSp>
        <p:nvGrpSpPr>
          <p:cNvPr name="Group 8" id="8"/>
          <p:cNvGrpSpPr>
            <a:grpSpLocks noChangeAspect="true"/>
          </p:cNvGrpSpPr>
          <p:nvPr/>
        </p:nvGrpSpPr>
        <p:grpSpPr>
          <a:xfrm rot="0">
            <a:off x="4563986" y="2517676"/>
            <a:ext cx="866429" cy="866429"/>
            <a:chOff x="0" y="0"/>
            <a:chExt cx="1155238" cy="1155238"/>
          </a:xfrm>
        </p:grpSpPr>
        <p:sp>
          <p:nvSpPr>
            <p:cNvPr name="Freeform 9" id="9" descr="Image 1"/>
            <p:cNvSpPr/>
            <p:nvPr/>
          </p:nvSpPr>
          <p:spPr>
            <a:xfrm flipH="false" flipV="false" rot="0">
              <a:off x="0" y="0"/>
              <a:ext cx="1155192" cy="1155192"/>
            </a:xfrm>
            <a:custGeom>
              <a:avLst/>
              <a:gdLst/>
              <a:ahLst/>
              <a:cxnLst/>
              <a:rect r="r" b="b" t="t" l="l"/>
              <a:pathLst>
                <a:path h="1155192" w="1155192">
                  <a:moveTo>
                    <a:pt x="0" y="0"/>
                  </a:moveTo>
                  <a:lnTo>
                    <a:pt x="1155192" y="0"/>
                  </a:lnTo>
                  <a:lnTo>
                    <a:pt x="1155192" y="1155192"/>
                  </a:lnTo>
                  <a:lnTo>
                    <a:pt x="0" y="1155192"/>
                  </a:lnTo>
                  <a:lnTo>
                    <a:pt x="0" y="0"/>
                  </a:lnTo>
                  <a:close/>
                </a:path>
              </a:pathLst>
            </a:custGeom>
            <a:blipFill>
              <a:blip r:embed="rId2"/>
              <a:stretch>
                <a:fillRect l="0" t="0" r="-4" b="-4"/>
              </a:stretch>
            </a:blipFill>
          </p:spPr>
        </p:sp>
      </p:grpSp>
      <p:sp>
        <p:nvSpPr>
          <p:cNvPr name="TextBox 10" id="10"/>
          <p:cNvSpPr txBox="true"/>
          <p:nvPr/>
        </p:nvSpPr>
        <p:spPr>
          <a:xfrm rot="0">
            <a:off x="984300" y="469842"/>
            <a:ext cx="6390610" cy="558858"/>
          </a:xfrm>
          <a:prstGeom prst="rect">
            <a:avLst/>
          </a:prstGeom>
        </p:spPr>
        <p:txBody>
          <a:bodyPr anchor="t" rtlCol="false" tIns="0" lIns="0" bIns="0" rIns="0">
            <a:spAutoFit/>
          </a:bodyPr>
          <a:lstStyle/>
          <a:p>
            <a:pPr algn="l">
              <a:lnSpc>
                <a:spcPts val="4479"/>
              </a:lnSpc>
            </a:pPr>
            <a:r>
              <a:rPr lang="en-US" sz="3649" b="true">
                <a:solidFill>
                  <a:srgbClr val="15213F"/>
                </a:solidFill>
                <a:latin typeface="Roboto Slab Bold"/>
                <a:ea typeface="Roboto Slab Bold"/>
                <a:cs typeface="Roboto Slab Bold"/>
                <a:sym typeface="Roboto Slab Bold"/>
              </a:rPr>
              <a:t>Cross Platform Storage</a:t>
            </a:r>
          </a:p>
        </p:txBody>
      </p:sp>
      <p:grpSp>
        <p:nvGrpSpPr>
          <p:cNvPr name="Group 11" id="11"/>
          <p:cNvGrpSpPr>
            <a:grpSpLocks noChangeAspect="true"/>
          </p:cNvGrpSpPr>
          <p:nvPr/>
        </p:nvGrpSpPr>
        <p:grpSpPr>
          <a:xfrm rot="0">
            <a:off x="12857435" y="2517676"/>
            <a:ext cx="866429" cy="866429"/>
            <a:chOff x="0" y="0"/>
            <a:chExt cx="1155238" cy="1155238"/>
          </a:xfrm>
        </p:grpSpPr>
        <p:sp>
          <p:nvSpPr>
            <p:cNvPr name="Freeform 12" id="12" descr="Image 3"/>
            <p:cNvSpPr/>
            <p:nvPr/>
          </p:nvSpPr>
          <p:spPr>
            <a:xfrm flipH="false" flipV="false" rot="0">
              <a:off x="0" y="0"/>
              <a:ext cx="1155192" cy="1155192"/>
            </a:xfrm>
            <a:custGeom>
              <a:avLst/>
              <a:gdLst/>
              <a:ahLst/>
              <a:cxnLst/>
              <a:rect r="r" b="b" t="t" l="l"/>
              <a:pathLst>
                <a:path h="1155192" w="1155192">
                  <a:moveTo>
                    <a:pt x="0" y="0"/>
                  </a:moveTo>
                  <a:lnTo>
                    <a:pt x="1155192" y="0"/>
                  </a:lnTo>
                  <a:lnTo>
                    <a:pt x="1155192" y="1155192"/>
                  </a:lnTo>
                  <a:lnTo>
                    <a:pt x="0" y="1155192"/>
                  </a:lnTo>
                  <a:lnTo>
                    <a:pt x="0" y="0"/>
                  </a:lnTo>
                  <a:close/>
                </a:path>
              </a:pathLst>
            </a:custGeom>
            <a:blipFill>
              <a:blip r:embed="rId2"/>
              <a:stretch>
                <a:fillRect l="0" t="0" r="-4" b="-4"/>
              </a:stretch>
            </a:blipFill>
          </p:spPr>
        </p:sp>
      </p:grpSp>
      <p:sp>
        <p:nvSpPr>
          <p:cNvPr name="TextBox 13" id="13"/>
          <p:cNvSpPr txBox="true"/>
          <p:nvPr/>
        </p:nvSpPr>
        <p:spPr>
          <a:xfrm rot="0">
            <a:off x="984300" y="1262380"/>
            <a:ext cx="16225625" cy="9024620"/>
          </a:xfrm>
          <a:prstGeom prst="rect">
            <a:avLst/>
          </a:prstGeom>
        </p:spPr>
        <p:txBody>
          <a:bodyPr anchor="t" rtlCol="false" tIns="0" lIns="0" bIns="0" rIns="0">
            <a:spAutoFit/>
          </a:bodyPr>
          <a:lstStyle/>
          <a:p>
            <a:pPr algn="l">
              <a:lnSpc>
                <a:spcPts val="3124"/>
              </a:lnSpc>
              <a:spcBef>
                <a:spcPct val="0"/>
              </a:spcBef>
            </a:pPr>
            <a:r>
              <a:rPr lang="en-US" b="true" sz="2499">
                <a:solidFill>
                  <a:srgbClr val="000000"/>
                </a:solidFill>
                <a:latin typeface="Roboto Slab Bold"/>
                <a:ea typeface="Roboto Slab Bold"/>
                <a:cs typeface="Roboto Slab Bold"/>
                <a:sym typeface="Roboto Slab Bold"/>
              </a:rPr>
              <a:t>Step 1: Holistic Data Ingestion</a:t>
            </a:r>
          </a:p>
          <a:p>
            <a:pPr algn="l">
              <a:lnSpc>
                <a:spcPts val="2749"/>
              </a:lnSpc>
              <a:spcBef>
                <a:spcPct val="0"/>
              </a:spcBef>
            </a:pPr>
            <a:r>
              <a:rPr lang="en-US" sz="2199">
                <a:solidFill>
                  <a:srgbClr val="000000"/>
                </a:solidFill>
                <a:latin typeface="Roboto Slab"/>
                <a:ea typeface="Roboto Slab"/>
                <a:cs typeface="Roboto Slab"/>
                <a:sym typeface="Roboto Slab"/>
              </a:rPr>
              <a:t>Our process begins by collecting a 360-degree view of your data's lifecycle. A scheduled job continuously gathers usage logs, access patterns, and performance metrics from all your connected cloud accounts (AWS and Google Cloud) and centralizes them in your MongoDB database.</a:t>
            </a:r>
          </a:p>
          <a:p>
            <a:pPr algn="l">
              <a:lnSpc>
                <a:spcPts val="2749"/>
              </a:lnSpc>
              <a:spcBef>
                <a:spcPct val="0"/>
              </a:spcBef>
            </a:pPr>
          </a:p>
          <a:p>
            <a:pPr algn="l">
              <a:lnSpc>
                <a:spcPts val="2874"/>
              </a:lnSpc>
              <a:spcBef>
                <a:spcPct val="0"/>
              </a:spcBef>
            </a:pPr>
            <a:r>
              <a:rPr lang="en-US" b="true" sz="2299">
                <a:solidFill>
                  <a:srgbClr val="000000"/>
                </a:solidFill>
                <a:latin typeface="Roboto Slab Bold"/>
                <a:ea typeface="Roboto Slab Bold"/>
                <a:cs typeface="Roboto Slab Bold"/>
                <a:sym typeface="Roboto Slab Bold"/>
              </a:rPr>
              <a:t>Step 2: Two-Layered ML Analysis</a:t>
            </a:r>
          </a:p>
          <a:p>
            <a:pPr algn="l">
              <a:lnSpc>
                <a:spcPts val="2749"/>
              </a:lnSpc>
              <a:spcBef>
                <a:spcPct val="0"/>
              </a:spcBef>
            </a:pPr>
            <a:r>
              <a:rPr lang="en-US" sz="2199">
                <a:solidFill>
                  <a:srgbClr val="000000"/>
                </a:solidFill>
                <a:latin typeface="Roboto Slab"/>
                <a:ea typeface="Roboto Slab"/>
                <a:cs typeface="Roboto Slab"/>
                <a:sym typeface="Roboto Slab"/>
              </a:rPr>
              <a:t>Our Machine Learning model analyzes this holistic data in two distinct layers to form the perfect recommendation:</a:t>
            </a:r>
          </a:p>
          <a:p>
            <a:pPr algn="l" marL="474979" indent="-237490" lvl="1">
              <a:lnSpc>
                <a:spcPts val="2749"/>
              </a:lnSpc>
              <a:spcBef>
                <a:spcPct val="0"/>
              </a:spcBef>
              <a:buFont typeface="Arial"/>
              <a:buChar char="•"/>
            </a:pPr>
            <a:r>
              <a:rPr lang="en-US" sz="2199">
                <a:solidFill>
                  <a:srgbClr val="000000"/>
                </a:solidFill>
                <a:latin typeface="Roboto Slab"/>
                <a:ea typeface="Roboto Slab"/>
                <a:cs typeface="Roboto Slab"/>
                <a:sym typeface="Roboto Slab"/>
              </a:rPr>
              <a:t>Layer 1 (Workload Analysis): The model first determines the best type of storage for the data's current job. It asks, "Does this data need high-performance Block Storage (EBS), shared File Storage (EFS), or simple Object Storage (S3)?"</a:t>
            </a:r>
          </a:p>
          <a:p>
            <a:pPr algn="l" marL="474979" indent="-237490" lvl="1">
              <a:lnSpc>
                <a:spcPts val="2749"/>
              </a:lnSpc>
              <a:spcBef>
                <a:spcPct val="0"/>
              </a:spcBef>
              <a:buFont typeface="Arial"/>
              <a:buChar char="•"/>
            </a:pPr>
            <a:r>
              <a:rPr lang="en-US" sz="2199">
                <a:solidFill>
                  <a:srgbClr val="000000"/>
                </a:solidFill>
                <a:latin typeface="Roboto Slab"/>
                <a:ea typeface="Roboto Slab"/>
                <a:cs typeface="Roboto Slab"/>
                <a:sym typeface="Roboto Slab"/>
              </a:rPr>
              <a:t>Layer 2 (Cost Analysis): After determining the type of storage needed, the model then finds the cheapest providerfor it. It asks, "Is it cheaper to get this Object Storage from AWS or Google Cloud, considering all transfer and access costs?"</a:t>
            </a:r>
          </a:p>
          <a:p>
            <a:pPr algn="l">
              <a:lnSpc>
                <a:spcPts val="2749"/>
              </a:lnSpc>
              <a:spcBef>
                <a:spcPct val="0"/>
              </a:spcBef>
            </a:pPr>
          </a:p>
          <a:p>
            <a:pPr algn="l">
              <a:lnSpc>
                <a:spcPts val="2874"/>
              </a:lnSpc>
              <a:spcBef>
                <a:spcPct val="0"/>
              </a:spcBef>
            </a:pPr>
            <a:r>
              <a:rPr lang="en-US" b="true" sz="2299">
                <a:solidFill>
                  <a:srgbClr val="000000"/>
                </a:solidFill>
                <a:latin typeface="Roboto Slab Bold"/>
                <a:ea typeface="Roboto Slab Bold"/>
                <a:cs typeface="Roboto Slab Bold"/>
                <a:sym typeface="Roboto Slab Bold"/>
              </a:rPr>
              <a:t>Step 3: User-Controlled Recommendation</a:t>
            </a:r>
          </a:p>
          <a:p>
            <a:pPr algn="l">
              <a:lnSpc>
                <a:spcPts val="2749"/>
              </a:lnSpc>
              <a:spcBef>
                <a:spcPct val="0"/>
              </a:spcBef>
            </a:pPr>
            <a:r>
              <a:rPr lang="en-US" sz="2199">
                <a:solidFill>
                  <a:srgbClr val="000000"/>
                </a:solidFill>
                <a:latin typeface="Roboto Slab"/>
                <a:ea typeface="Roboto Slab"/>
                <a:cs typeface="Roboto Slab"/>
                <a:sym typeface="Roboto Slab"/>
              </a:rPr>
              <a:t>The final, combined recommendation is presented to you on your dashboard in simple terms, such as: "Move archive.zip from AWS S3 to Google Cloud Storage to save $50/month." You have full control and approve the migration with a single click.</a:t>
            </a:r>
          </a:p>
          <a:p>
            <a:pPr algn="l">
              <a:lnSpc>
                <a:spcPts val="2749"/>
              </a:lnSpc>
              <a:spcBef>
                <a:spcPct val="0"/>
              </a:spcBef>
            </a:pPr>
          </a:p>
          <a:p>
            <a:pPr algn="l">
              <a:lnSpc>
                <a:spcPts val="2874"/>
              </a:lnSpc>
              <a:spcBef>
                <a:spcPct val="0"/>
              </a:spcBef>
            </a:pPr>
            <a:r>
              <a:rPr lang="en-US" b="true" sz="2299">
                <a:solidFill>
                  <a:srgbClr val="000000"/>
                </a:solidFill>
                <a:latin typeface="Roboto Slab Bold"/>
                <a:ea typeface="Roboto Slab Bold"/>
                <a:cs typeface="Roboto Slab Bold"/>
                <a:sym typeface="Roboto Slab Bold"/>
              </a:rPr>
              <a:t>Step 4: Automated Orchestration</a:t>
            </a:r>
          </a:p>
          <a:p>
            <a:pPr algn="l">
              <a:lnSpc>
                <a:spcPts val="2749"/>
              </a:lnSpc>
              <a:spcBef>
                <a:spcPct val="0"/>
              </a:spcBef>
            </a:pPr>
            <a:r>
              <a:rPr lang="en-US" sz="2199">
                <a:solidFill>
                  <a:srgbClr val="000000"/>
                </a:solidFill>
                <a:latin typeface="Roboto Slab"/>
                <a:ea typeface="Roboto Slab"/>
                <a:cs typeface="Roboto Slab"/>
                <a:sym typeface="Roboto Slab"/>
              </a:rPr>
              <a:t>Once you approve, our backend takes over and executes the recommended move. This could be a simple, intra-AWS transfer using AWS DataSync or a more complex, multi-cloud migration using your own authorized account credentials.</a:t>
            </a:r>
          </a:p>
          <a:p>
            <a:pPr algn="l">
              <a:lnSpc>
                <a:spcPts val="2749"/>
              </a:lnSpc>
              <a:spcBef>
                <a:spcPct val="0"/>
              </a:spcBef>
            </a:pPr>
          </a:p>
          <a:p>
            <a:pPr algn="l">
              <a:lnSpc>
                <a:spcPts val="2874"/>
              </a:lnSpc>
              <a:spcBef>
                <a:spcPct val="0"/>
              </a:spcBef>
            </a:pPr>
            <a:r>
              <a:rPr lang="en-US" b="true" sz="2299">
                <a:solidFill>
                  <a:srgbClr val="000000"/>
                </a:solidFill>
                <a:latin typeface="Roboto Slab Bold"/>
                <a:ea typeface="Roboto Slab Bold"/>
                <a:cs typeface="Roboto Slab Bold"/>
                <a:sym typeface="Roboto Slab Bold"/>
              </a:rPr>
              <a:t>Step 5: Update the Single Source of Truth</a:t>
            </a:r>
          </a:p>
          <a:p>
            <a:pPr algn="l">
              <a:lnSpc>
                <a:spcPts val="2749"/>
              </a:lnSpc>
              <a:spcBef>
                <a:spcPct val="0"/>
              </a:spcBef>
            </a:pPr>
            <a:r>
              <a:rPr lang="en-US" sz="2199">
                <a:solidFill>
                  <a:srgbClr val="000000"/>
                </a:solidFill>
                <a:latin typeface="Roboto Slab"/>
                <a:ea typeface="Roboto Slab"/>
                <a:cs typeface="Roboto Slab"/>
                <a:sym typeface="Roboto Slab"/>
              </a:rPr>
              <a:t>After a successful and verified transfer, the system's final, crucial step is to update the file's new location in your central MongoDB database. This ensures all your applications can instantly find the data in its new, optimized home without any code changes.</a:t>
            </a:r>
          </a:p>
          <a:p>
            <a:pPr algn="l">
              <a:lnSpc>
                <a:spcPts val="2625"/>
              </a:lnSpc>
              <a:spcBef>
                <a:spcPct val="0"/>
              </a:spcBef>
            </a:pPr>
          </a:p>
        </p:txBody>
      </p:sp>
    </p:spTree>
  </p:cSld>
  <p:clrMapOvr>
    <a:masterClrMapping/>
  </p:clrMapOvr>
  <p:transition spd="fast">
    <p:fade/>
  </p:transition>
</p:sld>
</file>

<file path=ppt/slides/slide6.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7938" y="-7938"/>
            <a:ext cx="18303875" cy="10302875"/>
            <a:chOff x="0" y="0"/>
            <a:chExt cx="24405167" cy="13737167"/>
          </a:xfrm>
        </p:grpSpPr>
        <p:sp>
          <p:nvSpPr>
            <p:cNvPr name="Freeform 3" id="3"/>
            <p:cNvSpPr/>
            <p:nvPr/>
          </p:nvSpPr>
          <p:spPr>
            <a:xfrm flipH="false" flipV="false" rot="0">
              <a:off x="10541" y="10541"/>
              <a:ext cx="24383999" cy="13715999"/>
            </a:xfrm>
            <a:custGeom>
              <a:avLst/>
              <a:gdLst/>
              <a:ahLst/>
              <a:cxnLst/>
              <a:rect r="r" b="b" t="t" l="l"/>
              <a:pathLst>
                <a:path h="13715999" w="24383999">
                  <a:moveTo>
                    <a:pt x="0" y="0"/>
                  </a:moveTo>
                  <a:lnTo>
                    <a:pt x="24383999" y="0"/>
                  </a:lnTo>
                  <a:lnTo>
                    <a:pt x="24383999" y="13715999"/>
                  </a:lnTo>
                  <a:lnTo>
                    <a:pt x="0" y="13715999"/>
                  </a:lnTo>
                  <a:close/>
                </a:path>
              </a:pathLst>
            </a:custGeom>
            <a:solidFill>
              <a:srgbClr val="EDF1F8"/>
            </a:solidFill>
          </p:spPr>
        </p:sp>
      </p:grpSp>
      <p:grpSp>
        <p:nvGrpSpPr>
          <p:cNvPr name="Group 4" id="4"/>
          <p:cNvGrpSpPr/>
          <p:nvPr/>
        </p:nvGrpSpPr>
        <p:grpSpPr>
          <a:xfrm rot="0">
            <a:off x="-7938" y="-7938"/>
            <a:ext cx="18303875" cy="10302875"/>
            <a:chOff x="0" y="0"/>
            <a:chExt cx="24405167" cy="13737167"/>
          </a:xfrm>
        </p:grpSpPr>
        <p:sp>
          <p:nvSpPr>
            <p:cNvPr name="Freeform 5" id="5"/>
            <p:cNvSpPr/>
            <p:nvPr/>
          </p:nvSpPr>
          <p:spPr>
            <a:xfrm flipH="false" flipV="false" rot="0">
              <a:off x="10541" y="10541"/>
              <a:ext cx="24383999" cy="13715999"/>
            </a:xfrm>
            <a:custGeom>
              <a:avLst/>
              <a:gdLst/>
              <a:ahLst/>
              <a:cxnLst/>
              <a:rect r="r" b="b" t="t" l="l"/>
              <a:pathLst>
                <a:path h="13715999" w="24383999">
                  <a:moveTo>
                    <a:pt x="0" y="0"/>
                  </a:moveTo>
                  <a:lnTo>
                    <a:pt x="24383999" y="0"/>
                  </a:lnTo>
                  <a:lnTo>
                    <a:pt x="24383999" y="13715999"/>
                  </a:lnTo>
                  <a:lnTo>
                    <a:pt x="0" y="13715999"/>
                  </a:lnTo>
                  <a:close/>
                </a:path>
              </a:pathLst>
            </a:custGeom>
            <a:solidFill>
              <a:srgbClr val="FBFCFE"/>
            </a:solidFill>
          </p:spPr>
        </p:sp>
      </p:grpSp>
      <p:sp>
        <p:nvSpPr>
          <p:cNvPr name="TextBox 6" id="6"/>
          <p:cNvSpPr txBox="true"/>
          <p:nvPr/>
        </p:nvSpPr>
        <p:spPr>
          <a:xfrm rot="0">
            <a:off x="700758" y="1668915"/>
            <a:ext cx="16558542" cy="7774940"/>
          </a:xfrm>
          <a:prstGeom prst="rect">
            <a:avLst/>
          </a:prstGeom>
        </p:spPr>
        <p:txBody>
          <a:bodyPr anchor="t" rtlCol="false" tIns="0" lIns="0" bIns="0" rIns="0">
            <a:spAutoFit/>
          </a:bodyPr>
          <a:lstStyle/>
          <a:p>
            <a:pPr algn="just">
              <a:lnSpc>
                <a:spcPts val="3249"/>
              </a:lnSpc>
              <a:spcBef>
                <a:spcPct val="0"/>
              </a:spcBef>
            </a:pPr>
            <a:r>
              <a:rPr lang="en-US" b="true" sz="2599">
                <a:solidFill>
                  <a:srgbClr val="000000"/>
                </a:solidFill>
                <a:latin typeface="Roboto Slab Bold"/>
                <a:ea typeface="Roboto Slab Bold"/>
                <a:cs typeface="Roboto Slab Bold"/>
                <a:sym typeface="Roboto Slab Bold"/>
              </a:rPr>
              <a:t>Step 1: The User's "What-If" Click</a:t>
            </a:r>
          </a:p>
          <a:p>
            <a:pPr algn="just">
              <a:lnSpc>
                <a:spcPts val="3249"/>
              </a:lnSpc>
              <a:spcBef>
                <a:spcPct val="0"/>
              </a:spcBef>
            </a:pPr>
            <a:r>
              <a:rPr lang="en-US" sz="2599">
                <a:solidFill>
                  <a:srgbClr val="000000"/>
                </a:solidFill>
                <a:latin typeface="Roboto Slab"/>
                <a:ea typeface="Roboto Slab"/>
                <a:cs typeface="Roboto Slab"/>
                <a:sym typeface="Roboto Slab"/>
              </a:rPr>
              <a:t>On your dashboard, next to any recommendation (like "Archive Old Logs"), you click the "Simulate" button. This action tells our platform you want to see the financial impact before you agree to the change.</a:t>
            </a:r>
          </a:p>
          <a:p>
            <a:pPr algn="just">
              <a:lnSpc>
                <a:spcPts val="3249"/>
              </a:lnSpc>
              <a:spcBef>
                <a:spcPct val="0"/>
              </a:spcBef>
            </a:pPr>
          </a:p>
          <a:p>
            <a:pPr algn="just">
              <a:lnSpc>
                <a:spcPts val="3249"/>
              </a:lnSpc>
              <a:spcBef>
                <a:spcPct val="0"/>
              </a:spcBef>
            </a:pPr>
            <a:r>
              <a:rPr lang="en-US" b="true" sz="2599">
                <a:solidFill>
                  <a:srgbClr val="000000"/>
                </a:solidFill>
                <a:latin typeface="Roboto Slab Bold"/>
                <a:ea typeface="Roboto Slab Bold"/>
                <a:cs typeface="Roboto Slab Bold"/>
                <a:sym typeface="Roboto Slab Bold"/>
              </a:rPr>
              <a:t>Step 2: Gathering the Data</a:t>
            </a:r>
          </a:p>
          <a:p>
            <a:pPr algn="just">
              <a:lnSpc>
                <a:spcPts val="3249"/>
              </a:lnSpc>
              <a:spcBef>
                <a:spcPct val="0"/>
              </a:spcBef>
            </a:pPr>
            <a:r>
              <a:rPr lang="en-US" sz="2599">
                <a:solidFill>
                  <a:srgbClr val="000000"/>
                </a:solidFill>
                <a:latin typeface="Roboto Slab"/>
                <a:ea typeface="Roboto Slab"/>
                <a:cs typeface="Roboto Slab"/>
                <a:sym typeface="Roboto Slab"/>
              </a:rPr>
              <a:t>An AWS Lambda function instantly queries your central MongoDB database. It gathers a complete list of every file that would be affected by the proposed policy, along with their size and current location.</a:t>
            </a:r>
          </a:p>
          <a:p>
            <a:pPr algn="just">
              <a:lnSpc>
                <a:spcPts val="3249"/>
              </a:lnSpc>
              <a:spcBef>
                <a:spcPct val="0"/>
              </a:spcBef>
            </a:pPr>
          </a:p>
          <a:p>
            <a:pPr algn="just">
              <a:lnSpc>
                <a:spcPts val="3249"/>
              </a:lnSpc>
              <a:spcBef>
                <a:spcPct val="0"/>
              </a:spcBef>
            </a:pPr>
            <a:r>
              <a:rPr lang="en-US" b="true" sz="2599">
                <a:solidFill>
                  <a:srgbClr val="000000"/>
                </a:solidFill>
                <a:latin typeface="Roboto Slab Bold"/>
                <a:ea typeface="Roboto Slab Bold"/>
                <a:cs typeface="Roboto Slab Bold"/>
                <a:sym typeface="Roboto Slab Bold"/>
              </a:rPr>
              <a:t>Step 3: The Real-Time Calculation</a:t>
            </a:r>
          </a:p>
          <a:p>
            <a:pPr algn="just">
              <a:lnSpc>
                <a:spcPts val="3249"/>
              </a:lnSpc>
              <a:spcBef>
                <a:spcPct val="0"/>
              </a:spcBef>
            </a:pPr>
            <a:r>
              <a:rPr lang="en-US" sz="2599">
                <a:solidFill>
                  <a:srgbClr val="000000"/>
                </a:solidFill>
                <a:latin typeface="Roboto Slab"/>
                <a:ea typeface="Roboto Slab"/>
                <a:cs typeface="Roboto Slab"/>
                <a:sym typeface="Roboto Slab"/>
              </a:rPr>
              <a:t>Using live, up-to-the-minute data from the official AWS and Google Cloud Price List APIs, the system calculates three key numbers:</a:t>
            </a:r>
          </a:p>
          <a:p>
            <a:pPr algn="just">
              <a:lnSpc>
                <a:spcPts val="3249"/>
              </a:lnSpc>
              <a:spcBef>
                <a:spcPct val="0"/>
              </a:spcBef>
            </a:pPr>
            <a:r>
              <a:rPr lang="en-US" sz="2599">
                <a:solidFill>
                  <a:srgbClr val="000000"/>
                </a:solidFill>
                <a:latin typeface="Roboto Slab"/>
                <a:ea typeface="Roboto Slab"/>
                <a:cs typeface="Roboto Slab"/>
                <a:sym typeface="Roboto Slab"/>
              </a:rPr>
              <a:t>Your total current monthly cost for those files.</a:t>
            </a:r>
          </a:p>
          <a:p>
            <a:pPr algn="just">
              <a:lnSpc>
                <a:spcPts val="3249"/>
              </a:lnSpc>
              <a:spcBef>
                <a:spcPct val="0"/>
              </a:spcBef>
            </a:pPr>
            <a:r>
              <a:rPr lang="en-US" sz="2599">
                <a:solidFill>
                  <a:srgbClr val="000000"/>
                </a:solidFill>
                <a:latin typeface="Roboto Slab"/>
                <a:ea typeface="Roboto Slab"/>
                <a:cs typeface="Roboto Slab"/>
                <a:sym typeface="Roboto Slab"/>
              </a:rPr>
              <a:t>Your projected new monthly cost after the changes.</a:t>
            </a:r>
          </a:p>
          <a:p>
            <a:pPr algn="just">
              <a:lnSpc>
                <a:spcPts val="3249"/>
              </a:lnSpc>
              <a:spcBef>
                <a:spcPct val="0"/>
              </a:spcBef>
            </a:pPr>
            <a:r>
              <a:rPr lang="en-US" sz="2599">
                <a:solidFill>
                  <a:srgbClr val="000000"/>
                </a:solidFill>
                <a:latin typeface="Roboto Slab"/>
                <a:ea typeface="Roboto Slab"/>
                <a:cs typeface="Roboto Slab"/>
                <a:sym typeface="Roboto Slab"/>
              </a:rPr>
              <a:t>The one-time cost to perform the migration, including any expensive egress fees.</a:t>
            </a:r>
          </a:p>
          <a:p>
            <a:pPr algn="just">
              <a:lnSpc>
                <a:spcPts val="3249"/>
              </a:lnSpc>
              <a:spcBef>
                <a:spcPct val="0"/>
              </a:spcBef>
            </a:pPr>
          </a:p>
          <a:p>
            <a:pPr algn="just">
              <a:lnSpc>
                <a:spcPts val="3249"/>
              </a:lnSpc>
              <a:spcBef>
                <a:spcPct val="0"/>
              </a:spcBef>
            </a:pPr>
            <a:r>
              <a:rPr lang="en-US" b="true" sz="2599">
                <a:solidFill>
                  <a:srgbClr val="000000"/>
                </a:solidFill>
                <a:latin typeface="Roboto Slab Bold"/>
                <a:ea typeface="Roboto Slab Bold"/>
                <a:cs typeface="Roboto Slab Bold"/>
                <a:sym typeface="Roboto Slab Bold"/>
              </a:rPr>
              <a:t>Step 4: The Clear Financial Report</a:t>
            </a:r>
          </a:p>
          <a:p>
            <a:pPr algn="just">
              <a:lnSpc>
                <a:spcPts val="3249"/>
              </a:lnSpc>
              <a:spcBef>
                <a:spcPct val="0"/>
              </a:spcBef>
            </a:pPr>
            <a:r>
              <a:rPr lang="en-US" sz="2599">
                <a:solidFill>
                  <a:srgbClr val="000000"/>
                </a:solidFill>
                <a:latin typeface="Roboto Slab"/>
                <a:ea typeface="Roboto Slab"/>
                <a:cs typeface="Roboto Slab"/>
                <a:sym typeface="Roboto Slab"/>
              </a:rPr>
              <a:t>The results are displayed back to you in a simple, visual report on your dashboard. You see the bottom line: the projected monthly savings, the upfront cost, and a "payback period." This gives you full financial transparency and the confidence to click the final "Approve &amp; Execute" button.</a:t>
            </a:r>
          </a:p>
        </p:txBody>
      </p:sp>
      <p:sp>
        <p:nvSpPr>
          <p:cNvPr name="TextBox 7" id="7"/>
          <p:cNvSpPr txBox="true"/>
          <p:nvPr/>
        </p:nvSpPr>
        <p:spPr>
          <a:xfrm rot="0">
            <a:off x="700758" y="415616"/>
            <a:ext cx="5959227" cy="613084"/>
          </a:xfrm>
          <a:prstGeom prst="rect">
            <a:avLst/>
          </a:prstGeom>
        </p:spPr>
        <p:txBody>
          <a:bodyPr anchor="t" rtlCol="false" tIns="0" lIns="0" bIns="0" rIns="0">
            <a:spAutoFit/>
          </a:bodyPr>
          <a:lstStyle/>
          <a:p>
            <a:pPr algn="ctr">
              <a:lnSpc>
                <a:spcPts val="4939"/>
              </a:lnSpc>
              <a:spcBef>
                <a:spcPct val="0"/>
              </a:spcBef>
            </a:pPr>
            <a:r>
              <a:rPr lang="en-US" b="true" sz="3951">
                <a:solidFill>
                  <a:srgbClr val="000000"/>
                </a:solidFill>
                <a:latin typeface="Roboto Slab Bold"/>
                <a:ea typeface="Roboto Slab Bold"/>
                <a:cs typeface="Roboto Slab Bold"/>
                <a:sym typeface="Roboto Slab Bold"/>
              </a:rPr>
              <a:t>Cost Simulation Sandbox</a:t>
            </a:r>
          </a:p>
        </p:txBody>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7938" y="-7938"/>
            <a:ext cx="18303875" cy="10302875"/>
            <a:chOff x="0" y="0"/>
            <a:chExt cx="24405167" cy="13737167"/>
          </a:xfrm>
        </p:grpSpPr>
        <p:sp>
          <p:nvSpPr>
            <p:cNvPr name="Freeform 3" id="3"/>
            <p:cNvSpPr/>
            <p:nvPr/>
          </p:nvSpPr>
          <p:spPr>
            <a:xfrm flipH="false" flipV="false" rot="0">
              <a:off x="10541" y="10541"/>
              <a:ext cx="24383999" cy="13715999"/>
            </a:xfrm>
            <a:custGeom>
              <a:avLst/>
              <a:gdLst/>
              <a:ahLst/>
              <a:cxnLst/>
              <a:rect r="r" b="b" t="t" l="l"/>
              <a:pathLst>
                <a:path h="13715999" w="24383999">
                  <a:moveTo>
                    <a:pt x="0" y="0"/>
                  </a:moveTo>
                  <a:lnTo>
                    <a:pt x="24383999" y="0"/>
                  </a:lnTo>
                  <a:lnTo>
                    <a:pt x="24383999" y="13715999"/>
                  </a:lnTo>
                  <a:lnTo>
                    <a:pt x="0" y="13715999"/>
                  </a:lnTo>
                  <a:close/>
                </a:path>
              </a:pathLst>
            </a:custGeom>
            <a:solidFill>
              <a:srgbClr val="EDF1F8"/>
            </a:solidFill>
          </p:spPr>
        </p:sp>
      </p:grpSp>
      <p:grpSp>
        <p:nvGrpSpPr>
          <p:cNvPr name="Group 4" id="4"/>
          <p:cNvGrpSpPr/>
          <p:nvPr/>
        </p:nvGrpSpPr>
        <p:grpSpPr>
          <a:xfrm rot="0">
            <a:off x="-7938" y="-7938"/>
            <a:ext cx="18303875" cy="10302875"/>
            <a:chOff x="0" y="0"/>
            <a:chExt cx="24405167" cy="13737167"/>
          </a:xfrm>
        </p:grpSpPr>
        <p:sp>
          <p:nvSpPr>
            <p:cNvPr name="Freeform 5" id="5"/>
            <p:cNvSpPr/>
            <p:nvPr/>
          </p:nvSpPr>
          <p:spPr>
            <a:xfrm flipH="false" flipV="false" rot="0">
              <a:off x="10541" y="10541"/>
              <a:ext cx="24383999" cy="13715999"/>
            </a:xfrm>
            <a:custGeom>
              <a:avLst/>
              <a:gdLst/>
              <a:ahLst/>
              <a:cxnLst/>
              <a:rect r="r" b="b" t="t" l="l"/>
              <a:pathLst>
                <a:path h="13715999" w="24383999">
                  <a:moveTo>
                    <a:pt x="0" y="0"/>
                  </a:moveTo>
                  <a:lnTo>
                    <a:pt x="24383999" y="0"/>
                  </a:lnTo>
                  <a:lnTo>
                    <a:pt x="24383999" y="13715999"/>
                  </a:lnTo>
                  <a:lnTo>
                    <a:pt x="0" y="13715999"/>
                  </a:lnTo>
                  <a:close/>
                </a:path>
              </a:pathLst>
            </a:custGeom>
            <a:solidFill>
              <a:srgbClr val="FBFCFE"/>
            </a:solidFill>
          </p:spPr>
        </p:sp>
      </p:grpSp>
      <p:sp>
        <p:nvSpPr>
          <p:cNvPr name="Freeform 6" id="6"/>
          <p:cNvSpPr/>
          <p:nvPr/>
        </p:nvSpPr>
        <p:spPr>
          <a:xfrm flipH="false" flipV="false" rot="0">
            <a:off x="700758" y="2334006"/>
            <a:ext cx="16230600" cy="7748316"/>
          </a:xfrm>
          <a:custGeom>
            <a:avLst/>
            <a:gdLst/>
            <a:ahLst/>
            <a:cxnLst/>
            <a:rect r="r" b="b" t="t" l="l"/>
            <a:pathLst>
              <a:path h="7748316" w="16230600">
                <a:moveTo>
                  <a:pt x="0" y="0"/>
                </a:moveTo>
                <a:lnTo>
                  <a:pt x="16230600" y="0"/>
                </a:lnTo>
                <a:lnTo>
                  <a:pt x="16230600" y="7748316"/>
                </a:lnTo>
                <a:lnTo>
                  <a:pt x="0" y="7748316"/>
                </a:lnTo>
                <a:lnTo>
                  <a:pt x="0" y="0"/>
                </a:lnTo>
                <a:close/>
              </a:path>
            </a:pathLst>
          </a:custGeom>
          <a:blipFill>
            <a:blip r:embed="rId2"/>
            <a:stretch>
              <a:fillRect l="0" t="0" r="0" b="-2641"/>
            </a:stretch>
          </a:blipFill>
        </p:spPr>
      </p:sp>
      <p:sp>
        <p:nvSpPr>
          <p:cNvPr name="TextBox 7" id="7"/>
          <p:cNvSpPr txBox="true"/>
          <p:nvPr/>
        </p:nvSpPr>
        <p:spPr>
          <a:xfrm rot="0">
            <a:off x="1038225" y="428320"/>
            <a:ext cx="12152451" cy="879475"/>
          </a:xfrm>
          <a:prstGeom prst="rect">
            <a:avLst/>
          </a:prstGeom>
        </p:spPr>
        <p:txBody>
          <a:bodyPr anchor="t" rtlCol="false" tIns="0" lIns="0" bIns="0" rIns="0">
            <a:spAutoFit/>
          </a:bodyPr>
          <a:lstStyle/>
          <a:p>
            <a:pPr algn="l">
              <a:lnSpc>
                <a:spcPts val="6875"/>
              </a:lnSpc>
            </a:pPr>
            <a:r>
              <a:rPr lang="en-US" sz="6000">
                <a:solidFill>
                  <a:srgbClr val="3257B8"/>
                </a:solidFill>
                <a:latin typeface="Roboto Slab"/>
                <a:ea typeface="Roboto Slab"/>
                <a:cs typeface="Roboto Slab"/>
                <a:sym typeface="Roboto Slab"/>
              </a:rPr>
              <a:t>Advanced Dynamic Computing</a:t>
            </a:r>
          </a:p>
        </p:txBody>
      </p:sp>
      <p:sp>
        <p:nvSpPr>
          <p:cNvPr name="TextBox 8" id="8"/>
          <p:cNvSpPr txBox="true"/>
          <p:nvPr/>
        </p:nvSpPr>
        <p:spPr>
          <a:xfrm rot="0">
            <a:off x="700758" y="1652651"/>
            <a:ext cx="10492383" cy="681355"/>
          </a:xfrm>
          <a:prstGeom prst="rect">
            <a:avLst/>
          </a:prstGeom>
        </p:spPr>
        <p:txBody>
          <a:bodyPr anchor="t" rtlCol="false" tIns="0" lIns="0" bIns="0" rIns="0">
            <a:spAutoFit/>
          </a:bodyPr>
          <a:lstStyle/>
          <a:p>
            <a:pPr algn="ctr">
              <a:lnSpc>
                <a:spcPts val="2749"/>
              </a:lnSpc>
              <a:spcBef>
                <a:spcPct val="0"/>
              </a:spcBef>
            </a:pPr>
            <a:r>
              <a:rPr lang="en-US" b="true" sz="2199">
                <a:solidFill>
                  <a:srgbClr val="000000"/>
                </a:solidFill>
                <a:latin typeface="Roboto Slab Bold"/>
                <a:ea typeface="Roboto Slab Bold"/>
                <a:cs typeface="Roboto Slab Bold"/>
                <a:sym typeface="Roboto Slab Bold"/>
              </a:rPr>
              <a:t>The Research Paper: </a:t>
            </a:r>
            <a:r>
              <a:rPr lang="en-US" sz="2199">
                <a:solidFill>
                  <a:srgbClr val="000000"/>
                </a:solidFill>
                <a:latin typeface="Roboto Slab"/>
                <a:ea typeface="Roboto Slab"/>
                <a:cs typeface="Roboto Slab"/>
                <a:sym typeface="Roboto Slab"/>
              </a:rPr>
              <a:t>"PRESS: PRedictive Elastic ReSizing for Web Applications"</a:t>
            </a:r>
          </a:p>
          <a:p>
            <a:pPr algn="ctr">
              <a:lnSpc>
                <a:spcPts val="2749"/>
              </a:lnSpc>
              <a:spcBef>
                <a:spcPct val="0"/>
              </a:spcBef>
            </a:pPr>
            <a:r>
              <a:rPr lang="en-US" b="true" sz="2199">
                <a:solidFill>
                  <a:srgbClr val="000000"/>
                </a:solidFill>
                <a:latin typeface="Roboto Slab Bold"/>
                <a:ea typeface="Roboto Slab Bold"/>
                <a:cs typeface="Roboto Slab Bold"/>
                <a:sym typeface="Roboto Slab Bold"/>
              </a:rPr>
              <a:t>Conference</a:t>
            </a:r>
            <a:r>
              <a:rPr lang="en-US" sz="2199">
                <a:solidFill>
                  <a:srgbClr val="000000"/>
                </a:solidFill>
                <a:latin typeface="Roboto Slab"/>
                <a:ea typeface="Roboto Slab"/>
                <a:cs typeface="Roboto Slab"/>
                <a:sym typeface="Roboto Slab"/>
              </a:rPr>
              <a:t>: 8th International Conference on Autonomic Computing (ICAC '11)</a:t>
            </a:r>
          </a:p>
        </p:txBody>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7938" y="-7938"/>
            <a:ext cx="18303875" cy="10302875"/>
            <a:chOff x="0" y="0"/>
            <a:chExt cx="24405167" cy="13737167"/>
          </a:xfrm>
        </p:grpSpPr>
        <p:sp>
          <p:nvSpPr>
            <p:cNvPr name="Freeform 3" id="3"/>
            <p:cNvSpPr/>
            <p:nvPr/>
          </p:nvSpPr>
          <p:spPr>
            <a:xfrm flipH="false" flipV="false" rot="0">
              <a:off x="10541" y="10541"/>
              <a:ext cx="24383999" cy="13715999"/>
            </a:xfrm>
            <a:custGeom>
              <a:avLst/>
              <a:gdLst/>
              <a:ahLst/>
              <a:cxnLst/>
              <a:rect r="r" b="b" t="t" l="l"/>
              <a:pathLst>
                <a:path h="13715999" w="24383999">
                  <a:moveTo>
                    <a:pt x="0" y="0"/>
                  </a:moveTo>
                  <a:lnTo>
                    <a:pt x="24383999" y="0"/>
                  </a:lnTo>
                  <a:lnTo>
                    <a:pt x="24383999" y="13715999"/>
                  </a:lnTo>
                  <a:lnTo>
                    <a:pt x="0" y="13715999"/>
                  </a:lnTo>
                  <a:close/>
                </a:path>
              </a:pathLst>
            </a:custGeom>
            <a:solidFill>
              <a:srgbClr val="EDF1F8"/>
            </a:solidFill>
          </p:spPr>
        </p:sp>
      </p:grpSp>
      <p:grpSp>
        <p:nvGrpSpPr>
          <p:cNvPr name="Group 4" id="4"/>
          <p:cNvGrpSpPr/>
          <p:nvPr/>
        </p:nvGrpSpPr>
        <p:grpSpPr>
          <a:xfrm rot="0">
            <a:off x="9525" y="-7938"/>
            <a:ext cx="18303875" cy="10302875"/>
            <a:chOff x="0" y="0"/>
            <a:chExt cx="24405167" cy="13737167"/>
          </a:xfrm>
        </p:grpSpPr>
        <p:sp>
          <p:nvSpPr>
            <p:cNvPr name="Freeform 5" id="5"/>
            <p:cNvSpPr/>
            <p:nvPr/>
          </p:nvSpPr>
          <p:spPr>
            <a:xfrm flipH="false" flipV="false" rot="0">
              <a:off x="10541" y="10541"/>
              <a:ext cx="24383999" cy="13715999"/>
            </a:xfrm>
            <a:custGeom>
              <a:avLst/>
              <a:gdLst/>
              <a:ahLst/>
              <a:cxnLst/>
              <a:rect r="r" b="b" t="t" l="l"/>
              <a:pathLst>
                <a:path h="13715999" w="24383999">
                  <a:moveTo>
                    <a:pt x="0" y="0"/>
                  </a:moveTo>
                  <a:lnTo>
                    <a:pt x="24383999" y="0"/>
                  </a:lnTo>
                  <a:lnTo>
                    <a:pt x="24383999" y="13715999"/>
                  </a:lnTo>
                  <a:lnTo>
                    <a:pt x="0" y="13715999"/>
                  </a:lnTo>
                  <a:close/>
                </a:path>
              </a:pathLst>
            </a:custGeom>
            <a:solidFill>
              <a:srgbClr val="FBFCFE"/>
            </a:solidFill>
          </p:spPr>
        </p:sp>
      </p:grpSp>
      <p:grpSp>
        <p:nvGrpSpPr>
          <p:cNvPr name="Group 6" id="6"/>
          <p:cNvGrpSpPr/>
          <p:nvPr/>
        </p:nvGrpSpPr>
        <p:grpSpPr>
          <a:xfrm rot="0">
            <a:off x="984300" y="2942877"/>
            <a:ext cx="8025806" cy="3020120"/>
            <a:chOff x="0" y="0"/>
            <a:chExt cx="10701075" cy="4026827"/>
          </a:xfrm>
        </p:grpSpPr>
        <p:sp>
          <p:nvSpPr>
            <p:cNvPr name="Freeform 7" id="7"/>
            <p:cNvSpPr/>
            <p:nvPr/>
          </p:nvSpPr>
          <p:spPr>
            <a:xfrm flipH="false" flipV="false" rot="0">
              <a:off x="10541" y="10541"/>
              <a:ext cx="10679938" cy="4005707"/>
            </a:xfrm>
            <a:custGeom>
              <a:avLst/>
              <a:gdLst/>
              <a:ahLst/>
              <a:cxnLst/>
              <a:rect r="r" b="b" t="t" l="l"/>
              <a:pathLst>
                <a:path h="4005707" w="10679938">
                  <a:moveTo>
                    <a:pt x="0" y="243840"/>
                  </a:moveTo>
                  <a:cubicBezTo>
                    <a:pt x="0" y="109220"/>
                    <a:pt x="109601" y="0"/>
                    <a:pt x="244729" y="0"/>
                  </a:cubicBezTo>
                  <a:lnTo>
                    <a:pt x="10435336" y="0"/>
                  </a:lnTo>
                  <a:cubicBezTo>
                    <a:pt x="10570464" y="0"/>
                    <a:pt x="10679938" y="109220"/>
                    <a:pt x="10679938" y="243840"/>
                  </a:cubicBezTo>
                  <a:lnTo>
                    <a:pt x="10679938" y="3761867"/>
                  </a:lnTo>
                  <a:cubicBezTo>
                    <a:pt x="10679938" y="3896487"/>
                    <a:pt x="10570464" y="4005707"/>
                    <a:pt x="10435336" y="4005707"/>
                  </a:cubicBezTo>
                  <a:lnTo>
                    <a:pt x="244729" y="4005707"/>
                  </a:lnTo>
                  <a:cubicBezTo>
                    <a:pt x="109601" y="4005707"/>
                    <a:pt x="127" y="3896487"/>
                    <a:pt x="127" y="3761867"/>
                  </a:cubicBezTo>
                  <a:close/>
                </a:path>
              </a:pathLst>
            </a:custGeom>
            <a:solidFill>
              <a:srgbClr val="FBFCFE"/>
            </a:solidFill>
          </p:spPr>
        </p:sp>
      </p:grpSp>
      <p:grpSp>
        <p:nvGrpSpPr>
          <p:cNvPr name="Group 8" id="8"/>
          <p:cNvGrpSpPr>
            <a:grpSpLocks noChangeAspect="true"/>
          </p:cNvGrpSpPr>
          <p:nvPr/>
        </p:nvGrpSpPr>
        <p:grpSpPr>
          <a:xfrm rot="0">
            <a:off x="4563986" y="2517676"/>
            <a:ext cx="866429" cy="866429"/>
            <a:chOff x="0" y="0"/>
            <a:chExt cx="1155238" cy="1155238"/>
          </a:xfrm>
        </p:grpSpPr>
        <p:sp>
          <p:nvSpPr>
            <p:cNvPr name="Freeform 9" id="9" descr="Image 1"/>
            <p:cNvSpPr/>
            <p:nvPr/>
          </p:nvSpPr>
          <p:spPr>
            <a:xfrm flipH="false" flipV="false" rot="0">
              <a:off x="0" y="0"/>
              <a:ext cx="1155192" cy="1155192"/>
            </a:xfrm>
            <a:custGeom>
              <a:avLst/>
              <a:gdLst/>
              <a:ahLst/>
              <a:cxnLst/>
              <a:rect r="r" b="b" t="t" l="l"/>
              <a:pathLst>
                <a:path h="1155192" w="1155192">
                  <a:moveTo>
                    <a:pt x="0" y="0"/>
                  </a:moveTo>
                  <a:lnTo>
                    <a:pt x="1155192" y="0"/>
                  </a:lnTo>
                  <a:lnTo>
                    <a:pt x="1155192" y="1155192"/>
                  </a:lnTo>
                  <a:lnTo>
                    <a:pt x="0" y="1155192"/>
                  </a:lnTo>
                  <a:lnTo>
                    <a:pt x="0" y="0"/>
                  </a:lnTo>
                  <a:close/>
                </a:path>
              </a:pathLst>
            </a:custGeom>
            <a:blipFill>
              <a:blip r:embed="rId2"/>
              <a:stretch>
                <a:fillRect l="0" t="0" r="-4" b="-4"/>
              </a:stretch>
            </a:blipFill>
          </p:spPr>
        </p:sp>
      </p:grpSp>
      <p:sp>
        <p:nvSpPr>
          <p:cNvPr name="TextBox 10" id="10"/>
          <p:cNvSpPr txBox="true"/>
          <p:nvPr/>
        </p:nvSpPr>
        <p:spPr>
          <a:xfrm rot="0">
            <a:off x="610560" y="369923"/>
            <a:ext cx="6390610" cy="493568"/>
          </a:xfrm>
          <a:prstGeom prst="rect">
            <a:avLst/>
          </a:prstGeom>
        </p:spPr>
        <p:txBody>
          <a:bodyPr anchor="t" rtlCol="false" tIns="0" lIns="0" bIns="0" rIns="0">
            <a:spAutoFit/>
          </a:bodyPr>
          <a:lstStyle/>
          <a:p>
            <a:pPr algn="l">
              <a:lnSpc>
                <a:spcPts val="3988"/>
              </a:lnSpc>
            </a:pPr>
            <a:r>
              <a:rPr lang="en-US" sz="3249" b="true">
                <a:solidFill>
                  <a:srgbClr val="15213F"/>
                </a:solidFill>
                <a:latin typeface="Roboto Slab Bold"/>
                <a:ea typeface="Roboto Slab Bold"/>
                <a:cs typeface="Roboto Slab Bold"/>
                <a:sym typeface="Roboto Slab Bold"/>
              </a:rPr>
              <a:t>L</a:t>
            </a:r>
            <a:r>
              <a:rPr lang="en-US" sz="3249" b="true">
                <a:solidFill>
                  <a:srgbClr val="15213F"/>
                </a:solidFill>
                <a:latin typeface="Roboto Slab Bold"/>
                <a:ea typeface="Roboto Slab Bold"/>
                <a:cs typeface="Roboto Slab Bold"/>
                <a:sym typeface="Roboto Slab Bold"/>
              </a:rPr>
              <a:t>ive Migration</a:t>
            </a:r>
          </a:p>
        </p:txBody>
      </p:sp>
      <p:grpSp>
        <p:nvGrpSpPr>
          <p:cNvPr name="Group 11" id="11"/>
          <p:cNvGrpSpPr>
            <a:grpSpLocks noChangeAspect="true"/>
          </p:cNvGrpSpPr>
          <p:nvPr/>
        </p:nvGrpSpPr>
        <p:grpSpPr>
          <a:xfrm rot="0">
            <a:off x="12857435" y="2517676"/>
            <a:ext cx="866429" cy="866429"/>
            <a:chOff x="0" y="0"/>
            <a:chExt cx="1155238" cy="1155238"/>
          </a:xfrm>
        </p:grpSpPr>
        <p:sp>
          <p:nvSpPr>
            <p:cNvPr name="Freeform 12" id="12" descr="Image 3"/>
            <p:cNvSpPr/>
            <p:nvPr/>
          </p:nvSpPr>
          <p:spPr>
            <a:xfrm flipH="false" flipV="false" rot="0">
              <a:off x="0" y="0"/>
              <a:ext cx="1155192" cy="1155192"/>
            </a:xfrm>
            <a:custGeom>
              <a:avLst/>
              <a:gdLst/>
              <a:ahLst/>
              <a:cxnLst/>
              <a:rect r="r" b="b" t="t" l="l"/>
              <a:pathLst>
                <a:path h="1155192" w="1155192">
                  <a:moveTo>
                    <a:pt x="0" y="0"/>
                  </a:moveTo>
                  <a:lnTo>
                    <a:pt x="1155192" y="0"/>
                  </a:lnTo>
                  <a:lnTo>
                    <a:pt x="1155192" y="1155192"/>
                  </a:lnTo>
                  <a:lnTo>
                    <a:pt x="0" y="1155192"/>
                  </a:lnTo>
                  <a:lnTo>
                    <a:pt x="0" y="0"/>
                  </a:lnTo>
                  <a:close/>
                </a:path>
              </a:pathLst>
            </a:custGeom>
            <a:blipFill>
              <a:blip r:embed="rId2"/>
              <a:stretch>
                <a:fillRect l="0" t="0" r="-4" b="-4"/>
              </a:stretch>
            </a:blipFill>
          </p:spPr>
        </p:sp>
      </p:grpSp>
      <p:sp>
        <p:nvSpPr>
          <p:cNvPr name="TextBox 13" id="13"/>
          <p:cNvSpPr txBox="true"/>
          <p:nvPr/>
        </p:nvSpPr>
        <p:spPr>
          <a:xfrm rot="0">
            <a:off x="610560" y="1181176"/>
            <a:ext cx="15292061" cy="8375958"/>
          </a:xfrm>
          <a:prstGeom prst="rect">
            <a:avLst/>
          </a:prstGeom>
        </p:spPr>
        <p:txBody>
          <a:bodyPr anchor="t" rtlCol="false" tIns="0" lIns="0" bIns="0" rIns="0">
            <a:spAutoFit/>
          </a:bodyPr>
          <a:lstStyle/>
          <a:p>
            <a:pPr algn="l">
              <a:lnSpc>
                <a:spcPts val="3064"/>
              </a:lnSpc>
            </a:pPr>
            <a:r>
              <a:rPr lang="en-US" sz="2451" b="true">
                <a:solidFill>
                  <a:srgbClr val="000000"/>
                </a:solidFill>
                <a:latin typeface="Roboto Slab Bold"/>
                <a:ea typeface="Roboto Slab Bold"/>
                <a:cs typeface="Roboto Slab Bold"/>
                <a:sym typeface="Roboto Slab Bold"/>
              </a:rPr>
              <a:t>Step 1: The Decision to Migrate</a:t>
            </a:r>
          </a:p>
          <a:p>
            <a:pPr algn="l">
              <a:lnSpc>
                <a:spcPts val="3064"/>
              </a:lnSpc>
            </a:pPr>
            <a:r>
              <a:rPr lang="en-US" sz="2451">
                <a:solidFill>
                  <a:srgbClr val="000000"/>
                </a:solidFill>
                <a:latin typeface="Roboto Slab"/>
                <a:ea typeface="Roboto Slab"/>
                <a:cs typeface="Roboto Slab"/>
                <a:sym typeface="Roboto Slab"/>
              </a:rPr>
              <a:t>Our system first decides that a move is necessary to improve either performance, cost, or user experience.</a:t>
            </a:r>
          </a:p>
          <a:p>
            <a:pPr algn="l">
              <a:lnSpc>
                <a:spcPts val="3064"/>
              </a:lnSpc>
            </a:pPr>
          </a:p>
          <a:p>
            <a:pPr algn="l">
              <a:lnSpc>
                <a:spcPts val="3064"/>
              </a:lnSpc>
            </a:pPr>
            <a:r>
              <a:rPr lang="en-US" sz="2451" b="true">
                <a:solidFill>
                  <a:srgbClr val="000000"/>
                </a:solidFill>
                <a:latin typeface="Roboto Slab Bold"/>
                <a:ea typeface="Roboto Slab Bold"/>
                <a:cs typeface="Roboto Slab Bold"/>
                <a:sym typeface="Roboto Slab Bold"/>
              </a:rPr>
              <a:t>Step 2: The Bulk Memory Copy</a:t>
            </a:r>
          </a:p>
          <a:p>
            <a:pPr algn="l">
              <a:lnSpc>
                <a:spcPts val="3064"/>
              </a:lnSpc>
            </a:pPr>
            <a:r>
              <a:rPr lang="en-US" sz="2451">
                <a:solidFill>
                  <a:srgbClr val="000000"/>
                </a:solidFill>
                <a:latin typeface="Roboto Slab"/>
                <a:ea typeface="Roboto Slab"/>
                <a:cs typeface="Roboto Slab"/>
                <a:sym typeface="Roboto Slab"/>
              </a:rPr>
              <a:t>While the original Virtual Machine (VM) on Host A is still running and serving the user, the system begins copying its main RAM over the network to the new server, Host B. The user experiences no interruption.</a:t>
            </a:r>
          </a:p>
          <a:p>
            <a:pPr algn="l">
              <a:lnSpc>
                <a:spcPts val="3064"/>
              </a:lnSpc>
            </a:pPr>
          </a:p>
          <a:p>
            <a:pPr algn="l">
              <a:lnSpc>
                <a:spcPts val="3064"/>
              </a:lnSpc>
            </a:pPr>
            <a:r>
              <a:rPr lang="en-US" sz="2451" b="true">
                <a:solidFill>
                  <a:srgbClr val="000000"/>
                </a:solidFill>
                <a:latin typeface="Roboto Slab Bold"/>
                <a:ea typeface="Roboto Slab Bold"/>
                <a:cs typeface="Roboto Slab Bold"/>
                <a:sym typeface="Roboto Slab Bold"/>
              </a:rPr>
              <a:t>Step 3: Tracking the Changes</a:t>
            </a:r>
          </a:p>
          <a:p>
            <a:pPr algn="l">
              <a:lnSpc>
                <a:spcPts val="3064"/>
              </a:lnSpc>
            </a:pPr>
            <a:r>
              <a:rPr lang="en-US" sz="2451">
                <a:solidFill>
                  <a:srgbClr val="000000"/>
                </a:solidFill>
                <a:latin typeface="Roboto Slab"/>
                <a:ea typeface="Roboto Slab"/>
                <a:cs typeface="Roboto Slab"/>
                <a:sym typeface="Roboto Slab"/>
              </a:rPr>
              <a:t>The system then quickly copies over the small bits of memory that changed while the main copy was happening. This is an iterative "catch-up" phase to get the new VM almost perfectly in sync.</a:t>
            </a:r>
          </a:p>
          <a:p>
            <a:pPr algn="l">
              <a:lnSpc>
                <a:spcPts val="3064"/>
              </a:lnSpc>
            </a:pPr>
          </a:p>
          <a:p>
            <a:pPr algn="l">
              <a:lnSpc>
                <a:spcPts val="3064"/>
              </a:lnSpc>
            </a:pPr>
            <a:r>
              <a:rPr lang="en-US" sz="2451" b="true">
                <a:solidFill>
                  <a:srgbClr val="000000"/>
                </a:solidFill>
                <a:latin typeface="Roboto Slab Bold"/>
                <a:ea typeface="Roboto Slab Bold"/>
                <a:cs typeface="Roboto Slab Bold"/>
                <a:sym typeface="Roboto Slab Bold"/>
              </a:rPr>
              <a:t>Step 4: The Millisecond Freeze &amp; Switch</a:t>
            </a:r>
          </a:p>
          <a:p>
            <a:pPr algn="l">
              <a:lnSpc>
                <a:spcPts val="3064"/>
              </a:lnSpc>
            </a:pPr>
            <a:r>
              <a:rPr lang="en-US" sz="2451">
                <a:solidFill>
                  <a:srgbClr val="000000"/>
                </a:solidFill>
                <a:latin typeface="Roboto Slab"/>
                <a:ea typeface="Roboto Slab"/>
                <a:cs typeface="Roboto Slab"/>
                <a:sym typeface="Roboto Slab"/>
              </a:rPr>
              <a:t>For a fraction of a second, the original VM on Host A is paused. In this tiny, imperceptible window, the final memory and CPU state are sent over, and the VM is instantly resumed on Host B, picking up exactly where it left off.</a:t>
            </a:r>
          </a:p>
          <a:p>
            <a:pPr algn="l">
              <a:lnSpc>
                <a:spcPts val="3064"/>
              </a:lnSpc>
            </a:pPr>
          </a:p>
          <a:p>
            <a:pPr algn="l">
              <a:lnSpc>
                <a:spcPts val="3064"/>
              </a:lnSpc>
            </a:pPr>
            <a:r>
              <a:rPr lang="en-US" sz="2451" b="true">
                <a:solidFill>
                  <a:srgbClr val="000000"/>
                </a:solidFill>
                <a:latin typeface="Roboto Slab Bold"/>
                <a:ea typeface="Roboto Slab Bold"/>
                <a:cs typeface="Roboto Slab Bold"/>
                <a:sym typeface="Roboto Slab Bold"/>
              </a:rPr>
              <a:t>Step 5: The Network Redirect</a:t>
            </a:r>
          </a:p>
          <a:p>
            <a:pPr algn="l">
              <a:lnSpc>
                <a:spcPts val="3064"/>
              </a:lnSpc>
            </a:pPr>
            <a:r>
              <a:rPr lang="en-US" sz="2451">
                <a:solidFill>
                  <a:srgbClr val="000000"/>
                </a:solidFill>
                <a:latin typeface="Roboto Slab"/>
                <a:ea typeface="Roboto Slab"/>
                <a:cs typeface="Roboto Slab"/>
                <a:sym typeface="Roboto Slab"/>
              </a:rPr>
              <a:t>The system instantly tells the network the VM's new physical address. All user traffic is seamlessly rerouted to Host B without dropping any connections. The original VM on Host A is then deleted.</a:t>
            </a:r>
          </a:p>
          <a:p>
            <a:pPr algn="l">
              <a:lnSpc>
                <a:spcPts val="3064"/>
              </a:lnSpc>
              <a:spcBef>
                <a:spcPct val="0"/>
              </a:spcBef>
            </a:pPr>
          </a:p>
        </p:txBody>
      </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7938" y="-7938"/>
            <a:ext cx="18303875" cy="10302875"/>
            <a:chOff x="0" y="0"/>
            <a:chExt cx="24405167" cy="13737167"/>
          </a:xfrm>
        </p:grpSpPr>
        <p:sp>
          <p:nvSpPr>
            <p:cNvPr name="Freeform 3" id="3"/>
            <p:cNvSpPr/>
            <p:nvPr/>
          </p:nvSpPr>
          <p:spPr>
            <a:xfrm flipH="false" flipV="false" rot="0">
              <a:off x="10541" y="10541"/>
              <a:ext cx="24383999" cy="13715999"/>
            </a:xfrm>
            <a:custGeom>
              <a:avLst/>
              <a:gdLst/>
              <a:ahLst/>
              <a:cxnLst/>
              <a:rect r="r" b="b" t="t" l="l"/>
              <a:pathLst>
                <a:path h="13715999" w="24383999">
                  <a:moveTo>
                    <a:pt x="0" y="0"/>
                  </a:moveTo>
                  <a:lnTo>
                    <a:pt x="24383999" y="0"/>
                  </a:lnTo>
                  <a:lnTo>
                    <a:pt x="24383999" y="13715999"/>
                  </a:lnTo>
                  <a:lnTo>
                    <a:pt x="0" y="13715999"/>
                  </a:lnTo>
                  <a:close/>
                </a:path>
              </a:pathLst>
            </a:custGeom>
            <a:solidFill>
              <a:srgbClr val="EDF1F8"/>
            </a:solidFill>
          </p:spPr>
        </p:sp>
      </p:grpSp>
      <p:grpSp>
        <p:nvGrpSpPr>
          <p:cNvPr name="Group 4" id="4"/>
          <p:cNvGrpSpPr/>
          <p:nvPr/>
        </p:nvGrpSpPr>
        <p:grpSpPr>
          <a:xfrm rot="0">
            <a:off x="9525" y="-7938"/>
            <a:ext cx="18303875" cy="10302875"/>
            <a:chOff x="0" y="0"/>
            <a:chExt cx="24405167" cy="13737167"/>
          </a:xfrm>
        </p:grpSpPr>
        <p:sp>
          <p:nvSpPr>
            <p:cNvPr name="Freeform 5" id="5"/>
            <p:cNvSpPr/>
            <p:nvPr/>
          </p:nvSpPr>
          <p:spPr>
            <a:xfrm flipH="false" flipV="false" rot="0">
              <a:off x="10541" y="10541"/>
              <a:ext cx="24383999" cy="13715999"/>
            </a:xfrm>
            <a:custGeom>
              <a:avLst/>
              <a:gdLst/>
              <a:ahLst/>
              <a:cxnLst/>
              <a:rect r="r" b="b" t="t" l="l"/>
              <a:pathLst>
                <a:path h="13715999" w="24383999">
                  <a:moveTo>
                    <a:pt x="0" y="0"/>
                  </a:moveTo>
                  <a:lnTo>
                    <a:pt x="24383999" y="0"/>
                  </a:lnTo>
                  <a:lnTo>
                    <a:pt x="24383999" y="13715999"/>
                  </a:lnTo>
                  <a:lnTo>
                    <a:pt x="0" y="13715999"/>
                  </a:lnTo>
                  <a:close/>
                </a:path>
              </a:pathLst>
            </a:custGeom>
            <a:solidFill>
              <a:srgbClr val="FBFCFE"/>
            </a:solidFill>
          </p:spPr>
        </p:sp>
      </p:grpSp>
      <p:grpSp>
        <p:nvGrpSpPr>
          <p:cNvPr name="Group 6" id="6"/>
          <p:cNvGrpSpPr/>
          <p:nvPr/>
        </p:nvGrpSpPr>
        <p:grpSpPr>
          <a:xfrm rot="0">
            <a:off x="984300" y="2942877"/>
            <a:ext cx="8025806" cy="3020120"/>
            <a:chOff x="0" y="0"/>
            <a:chExt cx="10701075" cy="4026827"/>
          </a:xfrm>
        </p:grpSpPr>
        <p:sp>
          <p:nvSpPr>
            <p:cNvPr name="Freeform 7" id="7"/>
            <p:cNvSpPr/>
            <p:nvPr/>
          </p:nvSpPr>
          <p:spPr>
            <a:xfrm flipH="false" flipV="false" rot="0">
              <a:off x="10541" y="10541"/>
              <a:ext cx="10679938" cy="4005707"/>
            </a:xfrm>
            <a:custGeom>
              <a:avLst/>
              <a:gdLst/>
              <a:ahLst/>
              <a:cxnLst/>
              <a:rect r="r" b="b" t="t" l="l"/>
              <a:pathLst>
                <a:path h="4005707" w="10679938">
                  <a:moveTo>
                    <a:pt x="0" y="243840"/>
                  </a:moveTo>
                  <a:cubicBezTo>
                    <a:pt x="0" y="109220"/>
                    <a:pt x="109601" y="0"/>
                    <a:pt x="244729" y="0"/>
                  </a:cubicBezTo>
                  <a:lnTo>
                    <a:pt x="10435336" y="0"/>
                  </a:lnTo>
                  <a:cubicBezTo>
                    <a:pt x="10570464" y="0"/>
                    <a:pt x="10679938" y="109220"/>
                    <a:pt x="10679938" y="243840"/>
                  </a:cubicBezTo>
                  <a:lnTo>
                    <a:pt x="10679938" y="3761867"/>
                  </a:lnTo>
                  <a:cubicBezTo>
                    <a:pt x="10679938" y="3896487"/>
                    <a:pt x="10570464" y="4005707"/>
                    <a:pt x="10435336" y="4005707"/>
                  </a:cubicBezTo>
                  <a:lnTo>
                    <a:pt x="244729" y="4005707"/>
                  </a:lnTo>
                  <a:cubicBezTo>
                    <a:pt x="109601" y="4005707"/>
                    <a:pt x="127" y="3896487"/>
                    <a:pt x="127" y="3761867"/>
                  </a:cubicBezTo>
                  <a:close/>
                </a:path>
              </a:pathLst>
            </a:custGeom>
            <a:solidFill>
              <a:srgbClr val="FBFCFE"/>
            </a:solidFill>
          </p:spPr>
        </p:sp>
      </p:grpSp>
      <p:grpSp>
        <p:nvGrpSpPr>
          <p:cNvPr name="Group 8" id="8"/>
          <p:cNvGrpSpPr>
            <a:grpSpLocks noChangeAspect="true"/>
          </p:cNvGrpSpPr>
          <p:nvPr/>
        </p:nvGrpSpPr>
        <p:grpSpPr>
          <a:xfrm rot="0">
            <a:off x="4563986" y="2517676"/>
            <a:ext cx="866429" cy="866429"/>
            <a:chOff x="0" y="0"/>
            <a:chExt cx="1155238" cy="1155238"/>
          </a:xfrm>
        </p:grpSpPr>
        <p:sp>
          <p:nvSpPr>
            <p:cNvPr name="Freeform 9" id="9" descr="Image 1"/>
            <p:cNvSpPr/>
            <p:nvPr/>
          </p:nvSpPr>
          <p:spPr>
            <a:xfrm flipH="false" flipV="false" rot="0">
              <a:off x="0" y="0"/>
              <a:ext cx="1155192" cy="1155192"/>
            </a:xfrm>
            <a:custGeom>
              <a:avLst/>
              <a:gdLst/>
              <a:ahLst/>
              <a:cxnLst/>
              <a:rect r="r" b="b" t="t" l="l"/>
              <a:pathLst>
                <a:path h="1155192" w="1155192">
                  <a:moveTo>
                    <a:pt x="0" y="0"/>
                  </a:moveTo>
                  <a:lnTo>
                    <a:pt x="1155192" y="0"/>
                  </a:lnTo>
                  <a:lnTo>
                    <a:pt x="1155192" y="1155192"/>
                  </a:lnTo>
                  <a:lnTo>
                    <a:pt x="0" y="1155192"/>
                  </a:lnTo>
                  <a:lnTo>
                    <a:pt x="0" y="0"/>
                  </a:lnTo>
                  <a:close/>
                </a:path>
              </a:pathLst>
            </a:custGeom>
            <a:blipFill>
              <a:blip r:embed="rId2"/>
              <a:stretch>
                <a:fillRect l="0" t="0" r="-4" b="-4"/>
              </a:stretch>
            </a:blipFill>
          </p:spPr>
        </p:sp>
      </p:grpSp>
      <p:sp>
        <p:nvSpPr>
          <p:cNvPr name="TextBox 10" id="10"/>
          <p:cNvSpPr txBox="true"/>
          <p:nvPr/>
        </p:nvSpPr>
        <p:spPr>
          <a:xfrm rot="0">
            <a:off x="610560" y="369923"/>
            <a:ext cx="6390610" cy="493568"/>
          </a:xfrm>
          <a:prstGeom prst="rect">
            <a:avLst/>
          </a:prstGeom>
        </p:spPr>
        <p:txBody>
          <a:bodyPr anchor="t" rtlCol="false" tIns="0" lIns="0" bIns="0" rIns="0">
            <a:spAutoFit/>
          </a:bodyPr>
          <a:lstStyle/>
          <a:p>
            <a:pPr algn="l">
              <a:lnSpc>
                <a:spcPts val="3988"/>
              </a:lnSpc>
            </a:pPr>
            <a:r>
              <a:rPr lang="en-US" sz="3249" b="true">
                <a:solidFill>
                  <a:srgbClr val="15213F"/>
                </a:solidFill>
                <a:latin typeface="Roboto Slab Bold"/>
                <a:ea typeface="Roboto Slab Bold"/>
                <a:cs typeface="Roboto Slab Bold"/>
                <a:sym typeface="Roboto Slab Bold"/>
              </a:rPr>
              <a:t>Cost-Aware Routing</a:t>
            </a:r>
          </a:p>
        </p:txBody>
      </p:sp>
      <p:grpSp>
        <p:nvGrpSpPr>
          <p:cNvPr name="Group 11" id="11"/>
          <p:cNvGrpSpPr>
            <a:grpSpLocks noChangeAspect="true"/>
          </p:cNvGrpSpPr>
          <p:nvPr/>
        </p:nvGrpSpPr>
        <p:grpSpPr>
          <a:xfrm rot="0">
            <a:off x="12857435" y="2517676"/>
            <a:ext cx="866429" cy="866429"/>
            <a:chOff x="0" y="0"/>
            <a:chExt cx="1155238" cy="1155238"/>
          </a:xfrm>
        </p:grpSpPr>
        <p:sp>
          <p:nvSpPr>
            <p:cNvPr name="Freeform 12" id="12" descr="Image 3"/>
            <p:cNvSpPr/>
            <p:nvPr/>
          </p:nvSpPr>
          <p:spPr>
            <a:xfrm flipH="false" flipV="false" rot="0">
              <a:off x="0" y="0"/>
              <a:ext cx="1155192" cy="1155192"/>
            </a:xfrm>
            <a:custGeom>
              <a:avLst/>
              <a:gdLst/>
              <a:ahLst/>
              <a:cxnLst/>
              <a:rect r="r" b="b" t="t" l="l"/>
              <a:pathLst>
                <a:path h="1155192" w="1155192">
                  <a:moveTo>
                    <a:pt x="0" y="0"/>
                  </a:moveTo>
                  <a:lnTo>
                    <a:pt x="1155192" y="0"/>
                  </a:lnTo>
                  <a:lnTo>
                    <a:pt x="1155192" y="1155192"/>
                  </a:lnTo>
                  <a:lnTo>
                    <a:pt x="0" y="1155192"/>
                  </a:lnTo>
                  <a:lnTo>
                    <a:pt x="0" y="0"/>
                  </a:lnTo>
                  <a:close/>
                </a:path>
              </a:pathLst>
            </a:custGeom>
            <a:blipFill>
              <a:blip r:embed="rId2"/>
              <a:stretch>
                <a:fillRect l="0" t="0" r="-4" b="-4"/>
              </a:stretch>
            </a:blipFill>
          </p:spPr>
        </p:sp>
      </p:grpSp>
      <p:sp>
        <p:nvSpPr>
          <p:cNvPr name="TextBox 13" id="13"/>
          <p:cNvSpPr txBox="true"/>
          <p:nvPr/>
        </p:nvSpPr>
        <p:spPr>
          <a:xfrm rot="0">
            <a:off x="610560" y="1019175"/>
            <a:ext cx="15292061" cy="8756958"/>
          </a:xfrm>
          <a:prstGeom prst="rect">
            <a:avLst/>
          </a:prstGeom>
        </p:spPr>
        <p:txBody>
          <a:bodyPr anchor="t" rtlCol="false" tIns="0" lIns="0" bIns="0" rIns="0">
            <a:spAutoFit/>
          </a:bodyPr>
          <a:lstStyle/>
          <a:p>
            <a:pPr algn="l">
              <a:lnSpc>
                <a:spcPts val="3064"/>
              </a:lnSpc>
            </a:pPr>
            <a:r>
              <a:rPr lang="en-US" sz="2451" b="true">
                <a:solidFill>
                  <a:srgbClr val="000000"/>
                </a:solidFill>
                <a:latin typeface="Roboto Slab Bold"/>
                <a:ea typeface="Roboto Slab Bold"/>
                <a:cs typeface="Roboto Slab Bold"/>
                <a:sym typeface="Roboto Slab Bold"/>
              </a:rPr>
              <a:t>Step 1: Gather a 360-Degree Snapshot</a:t>
            </a:r>
          </a:p>
          <a:p>
            <a:pPr algn="l">
              <a:lnSpc>
                <a:spcPts val="3064"/>
              </a:lnSpc>
            </a:pPr>
          </a:p>
          <a:p>
            <a:pPr algn="l">
              <a:lnSpc>
                <a:spcPts val="3064"/>
              </a:lnSpc>
            </a:pPr>
            <a:r>
              <a:rPr lang="en-US" sz="2451">
                <a:solidFill>
                  <a:srgbClr val="000000"/>
                </a:solidFill>
                <a:latin typeface="Roboto Slab"/>
                <a:ea typeface="Roboto Slab"/>
                <a:cs typeface="Roboto Slab"/>
                <a:sym typeface="Roboto Slab"/>
              </a:rPr>
              <a:t>A continuou</a:t>
            </a:r>
            <a:r>
              <a:rPr lang="en-US" sz="2451">
                <a:solidFill>
                  <a:srgbClr val="000000"/>
                </a:solidFill>
                <a:latin typeface="Roboto Slab"/>
                <a:ea typeface="Roboto Slab"/>
                <a:cs typeface="Roboto Slab"/>
                <a:sym typeface="Roboto Slab"/>
              </a:rPr>
              <a:t>s monitoring loop is triggered. It instantly gathers a complete picture of the situation:</a:t>
            </a:r>
          </a:p>
          <a:p>
            <a:pPr algn="l" marL="529262" indent="-264631" lvl="1">
              <a:lnSpc>
                <a:spcPts val="3064"/>
              </a:lnSpc>
              <a:buFont typeface="Arial"/>
              <a:buChar char="•"/>
            </a:pPr>
            <a:r>
              <a:rPr lang="en-US" sz="2451">
                <a:solidFill>
                  <a:srgbClr val="000000"/>
                </a:solidFill>
                <a:latin typeface="Roboto Slab"/>
                <a:ea typeface="Roboto Slab"/>
                <a:cs typeface="Roboto Slab"/>
                <a:sym typeface="Roboto Slab"/>
              </a:rPr>
              <a:t>The Workload's State: Its current performance, the user's network latency, and its running cost.</a:t>
            </a:r>
          </a:p>
          <a:p>
            <a:pPr algn="l" marL="529262" indent="-264631" lvl="1">
              <a:lnSpc>
                <a:spcPts val="3064"/>
              </a:lnSpc>
              <a:buFont typeface="Arial"/>
              <a:buChar char="•"/>
            </a:pPr>
            <a:r>
              <a:rPr lang="en-US" sz="2451">
                <a:solidFill>
                  <a:srgbClr val="000000"/>
                </a:solidFill>
                <a:latin typeface="Roboto Slab"/>
                <a:ea typeface="Roboto Slab"/>
                <a:cs typeface="Roboto Slab"/>
                <a:sym typeface="Roboto Slab"/>
              </a:rPr>
              <a:t>The Cluster's Options: The current load, specs, and cost of every other available server in our Virtual Cluster.</a:t>
            </a:r>
          </a:p>
          <a:p>
            <a:pPr algn="l">
              <a:lnSpc>
                <a:spcPts val="3064"/>
              </a:lnSpc>
            </a:pPr>
          </a:p>
          <a:p>
            <a:pPr algn="l">
              <a:lnSpc>
                <a:spcPts val="3064"/>
              </a:lnSpc>
            </a:pPr>
            <a:r>
              <a:rPr lang="en-US" sz="2451" b="true">
                <a:solidFill>
                  <a:srgbClr val="000000"/>
                </a:solidFill>
                <a:latin typeface="Roboto Slab Bold"/>
                <a:ea typeface="Roboto Slab Bold"/>
                <a:cs typeface="Roboto Slab Bold"/>
                <a:sym typeface="Roboto Slab Bold"/>
              </a:rPr>
              <a:t>Step 2: Calculate a "Suitability Score" for Every Option</a:t>
            </a:r>
          </a:p>
          <a:p>
            <a:pPr algn="l">
              <a:lnSpc>
                <a:spcPts val="3064"/>
              </a:lnSpc>
            </a:pPr>
          </a:p>
          <a:p>
            <a:pPr algn="l">
              <a:lnSpc>
                <a:spcPts val="3064"/>
              </a:lnSpc>
            </a:pPr>
            <a:r>
              <a:rPr lang="en-US" sz="2451">
                <a:solidFill>
                  <a:srgbClr val="000000"/>
                </a:solidFill>
                <a:latin typeface="Roboto Slab"/>
                <a:ea typeface="Roboto Slab"/>
                <a:cs typeface="Roboto Slab"/>
                <a:sym typeface="Roboto Slab"/>
              </a:rPr>
              <a:t>The ML</a:t>
            </a:r>
            <a:r>
              <a:rPr lang="en-US" sz="2451">
                <a:solidFill>
                  <a:srgbClr val="000000"/>
                </a:solidFill>
                <a:latin typeface="Roboto Slab"/>
                <a:ea typeface="Roboto Slab"/>
                <a:cs typeface="Roboto Slab"/>
                <a:sym typeface="Roboto Slab"/>
              </a:rPr>
              <a:t> model analyzes the data and calculates a "Suitability Score" for every potential server. This score is a weighted combination of our three key business goals:</a:t>
            </a:r>
          </a:p>
          <a:p>
            <a:pPr algn="l" marL="529262" indent="-264631" lvl="1">
              <a:lnSpc>
                <a:spcPts val="3064"/>
              </a:lnSpc>
              <a:buFont typeface="Arial"/>
              <a:buChar char="•"/>
            </a:pPr>
            <a:r>
              <a:rPr lang="en-US" sz="2451">
                <a:solidFill>
                  <a:srgbClr val="000000"/>
                </a:solidFill>
                <a:latin typeface="Roboto Slab"/>
                <a:ea typeface="Roboto Slab"/>
                <a:cs typeface="Roboto Slab"/>
                <a:sym typeface="Roboto Slab"/>
              </a:rPr>
              <a:t>Performance: How much faster will the application run?</a:t>
            </a:r>
          </a:p>
          <a:p>
            <a:pPr algn="l" marL="529262" indent="-264631" lvl="1">
              <a:lnSpc>
                <a:spcPts val="3064"/>
              </a:lnSpc>
              <a:buFont typeface="Arial"/>
              <a:buChar char="•"/>
            </a:pPr>
            <a:r>
              <a:rPr lang="en-US" sz="2451">
                <a:solidFill>
                  <a:srgbClr val="000000"/>
                </a:solidFill>
                <a:latin typeface="Roboto Slab"/>
                <a:ea typeface="Roboto Slab"/>
                <a:cs typeface="Roboto Slab"/>
                <a:sym typeface="Roboto Slab"/>
              </a:rPr>
              <a:t>User Experience: How much will the user's latency improve?</a:t>
            </a:r>
          </a:p>
          <a:p>
            <a:pPr algn="l" marL="529262" indent="-264631" lvl="1">
              <a:lnSpc>
                <a:spcPts val="3064"/>
              </a:lnSpc>
              <a:buFont typeface="Arial"/>
              <a:buChar char="•"/>
            </a:pPr>
            <a:r>
              <a:rPr lang="en-US" sz="2451">
                <a:solidFill>
                  <a:srgbClr val="000000"/>
                </a:solidFill>
                <a:latin typeface="Roboto Slab"/>
                <a:ea typeface="Roboto Slab"/>
                <a:cs typeface="Roboto Slab"/>
                <a:sym typeface="Roboto Slab"/>
              </a:rPr>
              <a:t>Co</a:t>
            </a:r>
            <a:r>
              <a:rPr lang="en-US" sz="2451">
                <a:solidFill>
                  <a:srgbClr val="000000"/>
                </a:solidFill>
                <a:latin typeface="Roboto Slab"/>
                <a:ea typeface="Roboto Slab"/>
                <a:cs typeface="Roboto Slab"/>
                <a:sym typeface="Roboto Slab"/>
              </a:rPr>
              <a:t>st: How much money will be saved per hour?</a:t>
            </a:r>
          </a:p>
          <a:p>
            <a:pPr algn="l">
              <a:lnSpc>
                <a:spcPts val="3064"/>
              </a:lnSpc>
            </a:pPr>
            <a:r>
              <a:rPr lang="en-US" sz="2451">
                <a:solidFill>
                  <a:srgbClr val="000000"/>
                </a:solidFill>
                <a:latin typeface="Roboto Slab"/>
                <a:ea typeface="Roboto Slab"/>
                <a:cs typeface="Roboto Slab"/>
                <a:sym typeface="Roboto Slab"/>
              </a:rPr>
              <a:t>The importance (weight) of each goal is adjusted based on the current operational policy, like "Max Performance Mode" or "Max Savings Mode."</a:t>
            </a:r>
          </a:p>
          <a:p>
            <a:pPr algn="l">
              <a:lnSpc>
                <a:spcPts val="3064"/>
              </a:lnSpc>
            </a:pPr>
          </a:p>
          <a:p>
            <a:pPr algn="l">
              <a:lnSpc>
                <a:spcPts val="3064"/>
              </a:lnSpc>
            </a:pPr>
            <a:r>
              <a:rPr lang="en-US" sz="2451" b="true">
                <a:solidFill>
                  <a:srgbClr val="000000"/>
                </a:solidFill>
                <a:latin typeface="Roboto Slab Bold"/>
                <a:ea typeface="Roboto Slab Bold"/>
                <a:cs typeface="Roboto Slab Bold"/>
                <a:sym typeface="Roboto Slab Bold"/>
              </a:rPr>
              <a:t>Step 3: Execute the #1 Ranked Move</a:t>
            </a:r>
          </a:p>
          <a:p>
            <a:pPr algn="l">
              <a:lnSpc>
                <a:spcPts val="3064"/>
              </a:lnSpc>
            </a:pPr>
          </a:p>
          <a:p>
            <a:pPr algn="l">
              <a:lnSpc>
                <a:spcPts val="3064"/>
              </a:lnSpc>
            </a:pPr>
            <a:r>
              <a:rPr lang="en-US" sz="2451">
                <a:solidFill>
                  <a:srgbClr val="000000"/>
                </a:solidFill>
                <a:latin typeface="Roboto Slab"/>
                <a:ea typeface="Roboto Slab"/>
                <a:cs typeface="Roboto Slab"/>
                <a:sym typeface="Roboto Slab"/>
              </a:rPr>
              <a:t>The system simply chooses the server with the single highest Suitability Score. It then initiates the Live Migrationprocess to seamlessly move the workload to this new, mathematically-proven optimal home.</a:t>
            </a:r>
          </a:p>
          <a:p>
            <a:pPr algn="l">
              <a:lnSpc>
                <a:spcPts val="3064"/>
              </a:lnSpc>
              <a:spcBef>
                <a:spcPct val="0"/>
              </a:spcBef>
            </a:pPr>
          </a:p>
        </p:txBody>
      </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7938" y="-7938"/>
            <a:ext cx="18303875" cy="10302875"/>
            <a:chOff x="0" y="0"/>
            <a:chExt cx="24405167" cy="13737167"/>
          </a:xfrm>
        </p:grpSpPr>
        <p:sp>
          <p:nvSpPr>
            <p:cNvPr name="Freeform 3" id="3"/>
            <p:cNvSpPr/>
            <p:nvPr/>
          </p:nvSpPr>
          <p:spPr>
            <a:xfrm flipH="false" flipV="false" rot="0">
              <a:off x="10541" y="10541"/>
              <a:ext cx="24383999" cy="13715999"/>
            </a:xfrm>
            <a:custGeom>
              <a:avLst/>
              <a:gdLst/>
              <a:ahLst/>
              <a:cxnLst/>
              <a:rect r="r" b="b" t="t" l="l"/>
              <a:pathLst>
                <a:path h="13715999" w="24383999">
                  <a:moveTo>
                    <a:pt x="0" y="0"/>
                  </a:moveTo>
                  <a:lnTo>
                    <a:pt x="24383999" y="0"/>
                  </a:lnTo>
                  <a:lnTo>
                    <a:pt x="24383999" y="13715999"/>
                  </a:lnTo>
                  <a:lnTo>
                    <a:pt x="0" y="13715999"/>
                  </a:lnTo>
                  <a:close/>
                </a:path>
              </a:pathLst>
            </a:custGeom>
            <a:solidFill>
              <a:srgbClr val="EDF1F8"/>
            </a:solidFill>
          </p:spPr>
        </p:sp>
      </p:grpSp>
      <p:grpSp>
        <p:nvGrpSpPr>
          <p:cNvPr name="Group 4" id="4"/>
          <p:cNvGrpSpPr/>
          <p:nvPr/>
        </p:nvGrpSpPr>
        <p:grpSpPr>
          <a:xfrm rot="0">
            <a:off x="9525" y="-7938"/>
            <a:ext cx="18303875" cy="10302875"/>
            <a:chOff x="0" y="0"/>
            <a:chExt cx="24405167" cy="13737167"/>
          </a:xfrm>
        </p:grpSpPr>
        <p:sp>
          <p:nvSpPr>
            <p:cNvPr name="Freeform 5" id="5"/>
            <p:cNvSpPr/>
            <p:nvPr/>
          </p:nvSpPr>
          <p:spPr>
            <a:xfrm flipH="false" flipV="false" rot="0">
              <a:off x="10541" y="10541"/>
              <a:ext cx="24383999" cy="13715999"/>
            </a:xfrm>
            <a:custGeom>
              <a:avLst/>
              <a:gdLst/>
              <a:ahLst/>
              <a:cxnLst/>
              <a:rect r="r" b="b" t="t" l="l"/>
              <a:pathLst>
                <a:path h="13715999" w="24383999">
                  <a:moveTo>
                    <a:pt x="0" y="0"/>
                  </a:moveTo>
                  <a:lnTo>
                    <a:pt x="24383999" y="0"/>
                  </a:lnTo>
                  <a:lnTo>
                    <a:pt x="24383999" y="13715999"/>
                  </a:lnTo>
                  <a:lnTo>
                    <a:pt x="0" y="13715999"/>
                  </a:lnTo>
                  <a:close/>
                </a:path>
              </a:pathLst>
            </a:custGeom>
            <a:solidFill>
              <a:srgbClr val="FBFCFE"/>
            </a:solidFill>
          </p:spPr>
        </p:sp>
      </p:grpSp>
      <p:grpSp>
        <p:nvGrpSpPr>
          <p:cNvPr name="Group 6" id="6"/>
          <p:cNvGrpSpPr/>
          <p:nvPr/>
        </p:nvGrpSpPr>
        <p:grpSpPr>
          <a:xfrm rot="0">
            <a:off x="984300" y="2942877"/>
            <a:ext cx="8025806" cy="3020120"/>
            <a:chOff x="0" y="0"/>
            <a:chExt cx="10701075" cy="4026827"/>
          </a:xfrm>
        </p:grpSpPr>
        <p:sp>
          <p:nvSpPr>
            <p:cNvPr name="Freeform 7" id="7"/>
            <p:cNvSpPr/>
            <p:nvPr/>
          </p:nvSpPr>
          <p:spPr>
            <a:xfrm flipH="false" flipV="false" rot="0">
              <a:off x="10541" y="10541"/>
              <a:ext cx="10679938" cy="4005707"/>
            </a:xfrm>
            <a:custGeom>
              <a:avLst/>
              <a:gdLst/>
              <a:ahLst/>
              <a:cxnLst/>
              <a:rect r="r" b="b" t="t" l="l"/>
              <a:pathLst>
                <a:path h="4005707" w="10679938">
                  <a:moveTo>
                    <a:pt x="0" y="243840"/>
                  </a:moveTo>
                  <a:cubicBezTo>
                    <a:pt x="0" y="109220"/>
                    <a:pt x="109601" y="0"/>
                    <a:pt x="244729" y="0"/>
                  </a:cubicBezTo>
                  <a:lnTo>
                    <a:pt x="10435336" y="0"/>
                  </a:lnTo>
                  <a:cubicBezTo>
                    <a:pt x="10570464" y="0"/>
                    <a:pt x="10679938" y="109220"/>
                    <a:pt x="10679938" y="243840"/>
                  </a:cubicBezTo>
                  <a:lnTo>
                    <a:pt x="10679938" y="3761867"/>
                  </a:lnTo>
                  <a:cubicBezTo>
                    <a:pt x="10679938" y="3896487"/>
                    <a:pt x="10570464" y="4005707"/>
                    <a:pt x="10435336" y="4005707"/>
                  </a:cubicBezTo>
                  <a:lnTo>
                    <a:pt x="244729" y="4005707"/>
                  </a:lnTo>
                  <a:cubicBezTo>
                    <a:pt x="109601" y="4005707"/>
                    <a:pt x="127" y="3896487"/>
                    <a:pt x="127" y="3761867"/>
                  </a:cubicBezTo>
                  <a:close/>
                </a:path>
              </a:pathLst>
            </a:custGeom>
            <a:solidFill>
              <a:srgbClr val="FBFCFE"/>
            </a:solidFill>
          </p:spPr>
        </p:sp>
      </p:grpSp>
      <p:grpSp>
        <p:nvGrpSpPr>
          <p:cNvPr name="Group 8" id="8"/>
          <p:cNvGrpSpPr>
            <a:grpSpLocks noChangeAspect="true"/>
          </p:cNvGrpSpPr>
          <p:nvPr/>
        </p:nvGrpSpPr>
        <p:grpSpPr>
          <a:xfrm rot="0">
            <a:off x="4563986" y="2517676"/>
            <a:ext cx="866429" cy="866429"/>
            <a:chOff x="0" y="0"/>
            <a:chExt cx="1155238" cy="1155238"/>
          </a:xfrm>
        </p:grpSpPr>
        <p:sp>
          <p:nvSpPr>
            <p:cNvPr name="Freeform 9" id="9" descr="Image 1"/>
            <p:cNvSpPr/>
            <p:nvPr/>
          </p:nvSpPr>
          <p:spPr>
            <a:xfrm flipH="false" flipV="false" rot="0">
              <a:off x="0" y="0"/>
              <a:ext cx="1155192" cy="1155192"/>
            </a:xfrm>
            <a:custGeom>
              <a:avLst/>
              <a:gdLst/>
              <a:ahLst/>
              <a:cxnLst/>
              <a:rect r="r" b="b" t="t" l="l"/>
              <a:pathLst>
                <a:path h="1155192" w="1155192">
                  <a:moveTo>
                    <a:pt x="0" y="0"/>
                  </a:moveTo>
                  <a:lnTo>
                    <a:pt x="1155192" y="0"/>
                  </a:lnTo>
                  <a:lnTo>
                    <a:pt x="1155192" y="1155192"/>
                  </a:lnTo>
                  <a:lnTo>
                    <a:pt x="0" y="1155192"/>
                  </a:lnTo>
                  <a:lnTo>
                    <a:pt x="0" y="0"/>
                  </a:lnTo>
                  <a:close/>
                </a:path>
              </a:pathLst>
            </a:custGeom>
            <a:blipFill>
              <a:blip r:embed="rId2"/>
              <a:stretch>
                <a:fillRect l="0" t="0" r="-4" b="-4"/>
              </a:stretch>
            </a:blipFill>
          </p:spPr>
        </p:sp>
      </p:grpSp>
      <p:sp>
        <p:nvSpPr>
          <p:cNvPr name="TextBox 10" id="10"/>
          <p:cNvSpPr txBox="true"/>
          <p:nvPr/>
        </p:nvSpPr>
        <p:spPr>
          <a:xfrm rot="0">
            <a:off x="610560" y="369923"/>
            <a:ext cx="6390610" cy="493568"/>
          </a:xfrm>
          <a:prstGeom prst="rect">
            <a:avLst/>
          </a:prstGeom>
        </p:spPr>
        <p:txBody>
          <a:bodyPr anchor="t" rtlCol="false" tIns="0" lIns="0" bIns="0" rIns="0">
            <a:spAutoFit/>
          </a:bodyPr>
          <a:lstStyle/>
          <a:p>
            <a:pPr algn="l">
              <a:lnSpc>
                <a:spcPts val="3988"/>
              </a:lnSpc>
            </a:pPr>
            <a:r>
              <a:rPr lang="en-US" sz="3249" b="true">
                <a:solidFill>
                  <a:srgbClr val="15213F"/>
                </a:solidFill>
                <a:latin typeface="Roboto Slab Bold"/>
                <a:ea typeface="Roboto Slab Bold"/>
                <a:cs typeface="Roboto Slab Bold"/>
                <a:sym typeface="Roboto Slab Bold"/>
              </a:rPr>
              <a:t>Predict</a:t>
            </a:r>
            <a:r>
              <a:rPr lang="en-US" sz="3249" b="true">
                <a:solidFill>
                  <a:srgbClr val="15213F"/>
                </a:solidFill>
                <a:latin typeface="Roboto Slab Bold"/>
                <a:ea typeface="Roboto Slab Bold"/>
                <a:cs typeface="Roboto Slab Bold"/>
                <a:sym typeface="Roboto Slab Bold"/>
              </a:rPr>
              <a:t>ive Autoscaling</a:t>
            </a:r>
          </a:p>
        </p:txBody>
      </p:sp>
      <p:grpSp>
        <p:nvGrpSpPr>
          <p:cNvPr name="Group 11" id="11"/>
          <p:cNvGrpSpPr>
            <a:grpSpLocks noChangeAspect="true"/>
          </p:cNvGrpSpPr>
          <p:nvPr/>
        </p:nvGrpSpPr>
        <p:grpSpPr>
          <a:xfrm rot="0">
            <a:off x="12857435" y="2517676"/>
            <a:ext cx="866429" cy="866429"/>
            <a:chOff x="0" y="0"/>
            <a:chExt cx="1155238" cy="1155238"/>
          </a:xfrm>
        </p:grpSpPr>
        <p:sp>
          <p:nvSpPr>
            <p:cNvPr name="Freeform 12" id="12" descr="Image 3"/>
            <p:cNvSpPr/>
            <p:nvPr/>
          </p:nvSpPr>
          <p:spPr>
            <a:xfrm flipH="false" flipV="false" rot="0">
              <a:off x="0" y="0"/>
              <a:ext cx="1155192" cy="1155192"/>
            </a:xfrm>
            <a:custGeom>
              <a:avLst/>
              <a:gdLst/>
              <a:ahLst/>
              <a:cxnLst/>
              <a:rect r="r" b="b" t="t" l="l"/>
              <a:pathLst>
                <a:path h="1155192" w="1155192">
                  <a:moveTo>
                    <a:pt x="0" y="0"/>
                  </a:moveTo>
                  <a:lnTo>
                    <a:pt x="1155192" y="0"/>
                  </a:lnTo>
                  <a:lnTo>
                    <a:pt x="1155192" y="1155192"/>
                  </a:lnTo>
                  <a:lnTo>
                    <a:pt x="0" y="1155192"/>
                  </a:lnTo>
                  <a:lnTo>
                    <a:pt x="0" y="0"/>
                  </a:lnTo>
                  <a:close/>
                </a:path>
              </a:pathLst>
            </a:custGeom>
            <a:blipFill>
              <a:blip r:embed="rId2"/>
              <a:stretch>
                <a:fillRect l="0" t="0" r="-4" b="-4"/>
              </a:stretch>
            </a:blipFill>
          </p:spPr>
        </p:sp>
      </p:grpSp>
      <p:sp>
        <p:nvSpPr>
          <p:cNvPr name="TextBox 13" id="13"/>
          <p:cNvSpPr txBox="true"/>
          <p:nvPr/>
        </p:nvSpPr>
        <p:spPr>
          <a:xfrm rot="0">
            <a:off x="607246" y="1019175"/>
            <a:ext cx="16805720" cy="9158278"/>
          </a:xfrm>
          <a:prstGeom prst="rect">
            <a:avLst/>
          </a:prstGeom>
        </p:spPr>
        <p:txBody>
          <a:bodyPr anchor="t" rtlCol="false" tIns="0" lIns="0" bIns="0" rIns="0">
            <a:spAutoFit/>
          </a:bodyPr>
          <a:lstStyle/>
          <a:p>
            <a:pPr algn="l">
              <a:lnSpc>
                <a:spcPts val="2814"/>
              </a:lnSpc>
            </a:pPr>
            <a:r>
              <a:rPr lang="en-US" sz="2251" b="true">
                <a:solidFill>
                  <a:srgbClr val="000000"/>
                </a:solidFill>
                <a:latin typeface="Roboto Slab Bold"/>
                <a:ea typeface="Roboto Slab Bold"/>
                <a:cs typeface="Roboto Slab Bold"/>
                <a:sym typeface="Roboto Slab Bold"/>
              </a:rPr>
              <a:t>Step 1: Create a Diverse Fleet of VMs</a:t>
            </a:r>
          </a:p>
          <a:p>
            <a:pPr algn="l">
              <a:lnSpc>
                <a:spcPts val="2814"/>
              </a:lnSpc>
            </a:pPr>
            <a:r>
              <a:rPr lang="en-US" sz="2251">
                <a:solidFill>
                  <a:srgbClr val="000000"/>
                </a:solidFill>
                <a:latin typeface="Roboto Slab"/>
                <a:ea typeface="Roboto Slab"/>
                <a:cs typeface="Roboto Slab"/>
                <a:sym typeface="Roboto Slab"/>
              </a:rPr>
              <a:t>We </a:t>
            </a:r>
            <a:r>
              <a:rPr lang="en-US" sz="2251">
                <a:solidFill>
                  <a:srgbClr val="000000"/>
                </a:solidFill>
                <a:latin typeface="Roboto Slab"/>
                <a:ea typeface="Roboto Slab"/>
                <a:cs typeface="Roboto Slab"/>
                <a:sym typeface="Roboto Slab"/>
              </a:rPr>
              <a:t>start by intentionally creating a mixed fleet of Virtual Machines, not a uniform one. This includes a variety of server types—like CPU-optimized, Memory-optimized, and cheap Spot Instances—to ensure we have the right tool for any job.</a:t>
            </a:r>
          </a:p>
          <a:p>
            <a:pPr algn="l">
              <a:lnSpc>
                <a:spcPts val="2814"/>
              </a:lnSpc>
            </a:pPr>
          </a:p>
          <a:p>
            <a:pPr algn="l">
              <a:lnSpc>
                <a:spcPts val="2814"/>
              </a:lnSpc>
            </a:pPr>
            <a:r>
              <a:rPr lang="en-US" sz="2251" b="true">
                <a:solidFill>
                  <a:srgbClr val="000000"/>
                </a:solidFill>
                <a:latin typeface="Roboto Slab Bold"/>
                <a:ea typeface="Roboto Slab Bold"/>
                <a:cs typeface="Roboto Slab Bold"/>
                <a:sym typeface="Roboto Slab Bold"/>
              </a:rPr>
              <a:t>Step 2: Unify Them into a Virtual Pool</a:t>
            </a:r>
          </a:p>
          <a:p>
            <a:pPr algn="l">
              <a:lnSpc>
                <a:spcPts val="2814"/>
              </a:lnSpc>
            </a:pPr>
            <a:r>
              <a:rPr lang="en-US" sz="2251">
                <a:solidFill>
                  <a:srgbClr val="000000"/>
                </a:solidFill>
                <a:latin typeface="Roboto Slab"/>
                <a:ea typeface="Roboto Slab"/>
                <a:cs typeface="Roboto Slab"/>
                <a:sym typeface="Roboto Slab"/>
              </a:rPr>
              <a:t>Our management software creates a "virtual" layer that logically groups this diverse, physically scattered fleet into a single, unified resource pool. This gives us one central "pane of glass" to see and control all our available computing power.</a:t>
            </a:r>
          </a:p>
          <a:p>
            <a:pPr algn="l">
              <a:lnSpc>
                <a:spcPts val="2814"/>
              </a:lnSpc>
            </a:pPr>
          </a:p>
          <a:p>
            <a:pPr algn="l">
              <a:lnSpc>
                <a:spcPts val="2814"/>
              </a:lnSpc>
            </a:pPr>
            <a:r>
              <a:rPr lang="en-US" sz="2251" b="true">
                <a:solidFill>
                  <a:srgbClr val="000000"/>
                </a:solidFill>
                <a:latin typeface="Roboto Slab Bold"/>
                <a:ea typeface="Roboto Slab Bold"/>
                <a:cs typeface="Roboto Slab Bold"/>
                <a:sym typeface="Roboto Slab Bold"/>
              </a:rPr>
              <a:t>Step 4:Cost-Aware Routing</a:t>
            </a:r>
          </a:p>
          <a:p>
            <a:pPr algn="l">
              <a:lnSpc>
                <a:spcPts val="2814"/>
              </a:lnSpc>
            </a:pPr>
            <a:r>
              <a:rPr lang="en-US" sz="2251">
                <a:solidFill>
                  <a:srgbClr val="000000"/>
                </a:solidFill>
                <a:latin typeface="Roboto Slab"/>
                <a:ea typeface="Roboto Slab"/>
                <a:cs typeface="Roboto Slab"/>
                <a:sym typeface="Roboto Slab"/>
              </a:rPr>
              <a:t>When our system decides to add a new server, it doesn't just grab the default option. This step acts as a smart financial advisor, automatically choosing the most cost-effective VM available that can handle the job. It intelligently prioritizes cheaper Spot Instances over expensive On-Demand ones, ensuring we meet the predicted demand at the lowest possible cost.</a:t>
            </a:r>
          </a:p>
          <a:p>
            <a:pPr algn="l">
              <a:lnSpc>
                <a:spcPts val="2814"/>
              </a:lnSpc>
            </a:pPr>
          </a:p>
          <a:p>
            <a:pPr algn="l">
              <a:lnSpc>
                <a:spcPts val="2814"/>
              </a:lnSpc>
            </a:pPr>
            <a:r>
              <a:rPr lang="en-US" sz="2251" b="true">
                <a:solidFill>
                  <a:srgbClr val="000000"/>
                </a:solidFill>
                <a:latin typeface="Roboto Slab Bold"/>
                <a:ea typeface="Roboto Slab Bold"/>
                <a:cs typeface="Roboto Slab Bold"/>
                <a:sym typeface="Roboto Slab Bold"/>
              </a:rPr>
              <a:t>Step 5:Live Migration</a:t>
            </a:r>
          </a:p>
          <a:p>
            <a:pPr algn="l">
              <a:lnSpc>
                <a:spcPts val="2814"/>
              </a:lnSpc>
            </a:pPr>
            <a:r>
              <a:rPr lang="en-US" sz="2251">
                <a:solidFill>
                  <a:srgbClr val="000000"/>
                </a:solidFill>
                <a:latin typeface="Roboto Slab"/>
                <a:ea typeface="Roboto Slab"/>
                <a:cs typeface="Roboto Slab"/>
                <a:sym typeface="Roboto Slab"/>
              </a:rPr>
              <a:t>This is our zero-downtime technology. When we need to move a user's workload to a better server (identified in the previous steps), we copy its live memory and state while the original is still running. The system then pauses the application for a fraction of a second to complete the switch. The user experiences no interruption, guaranteeing a perfectly seamless experience.</a:t>
            </a:r>
          </a:p>
          <a:p>
            <a:pPr algn="l">
              <a:lnSpc>
                <a:spcPts val="2814"/>
              </a:lnSpc>
            </a:pPr>
          </a:p>
          <a:p>
            <a:pPr algn="l">
              <a:lnSpc>
                <a:spcPts val="2814"/>
              </a:lnSpc>
            </a:pPr>
            <a:r>
              <a:rPr lang="en-US" sz="2251" b="true">
                <a:solidFill>
                  <a:srgbClr val="000000"/>
                </a:solidFill>
                <a:latin typeface="Roboto Slab Bold"/>
                <a:ea typeface="Roboto Slab Bold"/>
                <a:cs typeface="Roboto Slab Bold"/>
                <a:sym typeface="Roboto Slab Bold"/>
              </a:rPr>
              <a:t>Step 3: Dynamically Adjust the Pool Size</a:t>
            </a:r>
          </a:p>
          <a:p>
            <a:pPr algn="l">
              <a:lnSpc>
                <a:spcPts val="2814"/>
              </a:lnSpc>
            </a:pPr>
          </a:p>
          <a:p>
            <a:pPr algn="l">
              <a:lnSpc>
                <a:spcPts val="2814"/>
              </a:lnSpc>
            </a:pPr>
            <a:r>
              <a:rPr lang="en-US" sz="2251">
                <a:solidFill>
                  <a:srgbClr val="000000"/>
                </a:solidFill>
                <a:latin typeface="Roboto Slab"/>
                <a:ea typeface="Roboto Slab"/>
                <a:cs typeface="Roboto Slab"/>
                <a:sym typeface="Roboto Slab"/>
              </a:rPr>
              <a:t>This virtual pool isn't static. Our main Predictive Autoscaling model works at this level, automatically adding or removing VMs from the pool based on its forecasts of overall future demand. This ensures we always have the right mix and number of servers ready for the next step.</a:t>
            </a:r>
          </a:p>
          <a:p>
            <a:pPr algn="l">
              <a:lnSpc>
                <a:spcPts val="2814"/>
              </a:lnSpc>
              <a:spcBef>
                <a:spcPct val="0"/>
              </a:spcBef>
            </a:pPr>
          </a:p>
        </p:txBody>
      </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7938" y="-7938"/>
            <a:ext cx="18303875" cy="10302875"/>
            <a:chOff x="0" y="0"/>
            <a:chExt cx="24405167" cy="13737167"/>
          </a:xfrm>
        </p:grpSpPr>
        <p:sp>
          <p:nvSpPr>
            <p:cNvPr name="Freeform 3" id="3"/>
            <p:cNvSpPr/>
            <p:nvPr/>
          </p:nvSpPr>
          <p:spPr>
            <a:xfrm flipH="false" flipV="false" rot="0">
              <a:off x="10541" y="10541"/>
              <a:ext cx="24383999" cy="13715999"/>
            </a:xfrm>
            <a:custGeom>
              <a:avLst/>
              <a:gdLst/>
              <a:ahLst/>
              <a:cxnLst/>
              <a:rect r="r" b="b" t="t" l="l"/>
              <a:pathLst>
                <a:path h="13715999" w="24383999">
                  <a:moveTo>
                    <a:pt x="0" y="0"/>
                  </a:moveTo>
                  <a:lnTo>
                    <a:pt x="24383999" y="0"/>
                  </a:lnTo>
                  <a:lnTo>
                    <a:pt x="24383999" y="13715999"/>
                  </a:lnTo>
                  <a:lnTo>
                    <a:pt x="0" y="13715999"/>
                  </a:lnTo>
                  <a:close/>
                </a:path>
              </a:pathLst>
            </a:custGeom>
            <a:solidFill>
              <a:srgbClr val="EDF1F8"/>
            </a:solidFill>
          </p:spPr>
        </p:sp>
      </p:grpSp>
      <p:grpSp>
        <p:nvGrpSpPr>
          <p:cNvPr name="Group 4" id="4"/>
          <p:cNvGrpSpPr/>
          <p:nvPr/>
        </p:nvGrpSpPr>
        <p:grpSpPr>
          <a:xfrm rot="0">
            <a:off x="-7938" y="-7938"/>
            <a:ext cx="18303875" cy="10302875"/>
            <a:chOff x="0" y="0"/>
            <a:chExt cx="24405167" cy="13737167"/>
          </a:xfrm>
        </p:grpSpPr>
        <p:sp>
          <p:nvSpPr>
            <p:cNvPr name="Freeform 5" id="5"/>
            <p:cNvSpPr/>
            <p:nvPr/>
          </p:nvSpPr>
          <p:spPr>
            <a:xfrm flipH="false" flipV="false" rot="0">
              <a:off x="10541" y="10541"/>
              <a:ext cx="24383999" cy="13715999"/>
            </a:xfrm>
            <a:custGeom>
              <a:avLst/>
              <a:gdLst/>
              <a:ahLst/>
              <a:cxnLst/>
              <a:rect r="r" b="b" t="t" l="l"/>
              <a:pathLst>
                <a:path h="13715999" w="24383999">
                  <a:moveTo>
                    <a:pt x="0" y="0"/>
                  </a:moveTo>
                  <a:lnTo>
                    <a:pt x="24383999" y="0"/>
                  </a:lnTo>
                  <a:lnTo>
                    <a:pt x="24383999" y="13715999"/>
                  </a:lnTo>
                  <a:lnTo>
                    <a:pt x="0" y="13715999"/>
                  </a:lnTo>
                  <a:close/>
                </a:path>
              </a:pathLst>
            </a:custGeom>
            <a:solidFill>
              <a:srgbClr val="FBFCFE"/>
            </a:solidFill>
          </p:spPr>
        </p:sp>
      </p:grpSp>
      <p:sp>
        <p:nvSpPr>
          <p:cNvPr name="Freeform 6" id="6"/>
          <p:cNvSpPr/>
          <p:nvPr/>
        </p:nvSpPr>
        <p:spPr>
          <a:xfrm flipH="false" flipV="false" rot="0">
            <a:off x="334234" y="2714410"/>
            <a:ext cx="17054732" cy="6971122"/>
          </a:xfrm>
          <a:custGeom>
            <a:avLst/>
            <a:gdLst/>
            <a:ahLst/>
            <a:cxnLst/>
            <a:rect r="r" b="b" t="t" l="l"/>
            <a:pathLst>
              <a:path h="6971122" w="17054732">
                <a:moveTo>
                  <a:pt x="0" y="0"/>
                </a:moveTo>
                <a:lnTo>
                  <a:pt x="17054732" y="0"/>
                </a:lnTo>
                <a:lnTo>
                  <a:pt x="17054732" y="6971121"/>
                </a:lnTo>
                <a:lnTo>
                  <a:pt x="0" y="6971121"/>
                </a:lnTo>
                <a:lnTo>
                  <a:pt x="0" y="0"/>
                </a:lnTo>
                <a:close/>
              </a:path>
            </a:pathLst>
          </a:custGeom>
          <a:blipFill>
            <a:blip r:embed="rId2"/>
            <a:stretch>
              <a:fillRect l="0" t="0" r="0" b="0"/>
            </a:stretch>
          </a:blipFill>
        </p:spPr>
      </p:sp>
      <p:sp>
        <p:nvSpPr>
          <p:cNvPr name="TextBox 7" id="7"/>
          <p:cNvSpPr txBox="true"/>
          <p:nvPr/>
        </p:nvSpPr>
        <p:spPr>
          <a:xfrm rot="0">
            <a:off x="334234" y="390590"/>
            <a:ext cx="6968814" cy="825500"/>
          </a:xfrm>
          <a:prstGeom prst="rect">
            <a:avLst/>
          </a:prstGeom>
        </p:spPr>
        <p:txBody>
          <a:bodyPr anchor="t" rtlCol="false" tIns="0" lIns="0" bIns="0" rIns="0">
            <a:spAutoFit/>
          </a:bodyPr>
          <a:lstStyle/>
          <a:p>
            <a:pPr algn="l">
              <a:lnSpc>
                <a:spcPts val="6249"/>
              </a:lnSpc>
            </a:pPr>
            <a:r>
              <a:rPr lang="en-US" sz="6000">
                <a:solidFill>
                  <a:srgbClr val="3257B8"/>
                </a:solidFill>
                <a:latin typeface="Roboto Slab"/>
                <a:ea typeface="Roboto Slab"/>
                <a:cs typeface="Roboto Slab"/>
                <a:sym typeface="Roboto Slab"/>
              </a:rPr>
              <a:t>Proactive Security</a:t>
            </a:r>
          </a:p>
        </p:txBody>
      </p:sp>
      <p:sp>
        <p:nvSpPr>
          <p:cNvPr name="TextBox 8" id="8"/>
          <p:cNvSpPr txBox="true"/>
          <p:nvPr/>
        </p:nvSpPr>
        <p:spPr>
          <a:xfrm rot="0">
            <a:off x="942158" y="1619381"/>
            <a:ext cx="15843796" cy="1024255"/>
          </a:xfrm>
          <a:prstGeom prst="rect">
            <a:avLst/>
          </a:prstGeom>
        </p:spPr>
        <p:txBody>
          <a:bodyPr anchor="t" rtlCol="false" tIns="0" lIns="0" bIns="0" rIns="0">
            <a:spAutoFit/>
          </a:bodyPr>
          <a:lstStyle/>
          <a:p>
            <a:pPr algn="l">
              <a:lnSpc>
                <a:spcPts val="2749"/>
              </a:lnSpc>
              <a:spcBef>
                <a:spcPct val="0"/>
              </a:spcBef>
            </a:pPr>
            <a:r>
              <a:rPr lang="en-US" b="true" sz="2199">
                <a:solidFill>
                  <a:srgbClr val="000000"/>
                </a:solidFill>
                <a:latin typeface="Roboto Slab Bold"/>
                <a:ea typeface="Roboto Slab Bold"/>
                <a:cs typeface="Roboto Slab Bold"/>
                <a:sym typeface="Roboto Slab Bold"/>
              </a:rPr>
              <a:t>Publication</a:t>
            </a:r>
            <a:r>
              <a:rPr lang="en-US" sz="2199">
                <a:solidFill>
                  <a:srgbClr val="000000"/>
                </a:solidFill>
                <a:latin typeface="Roboto Slab"/>
                <a:ea typeface="Roboto Slab"/>
                <a:cs typeface="Roboto Slab"/>
                <a:sym typeface="Roboto Slab"/>
              </a:rPr>
              <a:t>: IEEE Transactions on Cloud Computing</a:t>
            </a:r>
          </a:p>
          <a:p>
            <a:pPr algn="l">
              <a:lnSpc>
                <a:spcPts val="2749"/>
              </a:lnSpc>
              <a:spcBef>
                <a:spcPct val="0"/>
              </a:spcBef>
            </a:pPr>
            <a:r>
              <a:rPr lang="en-US" b="true" sz="2199">
                <a:solidFill>
                  <a:srgbClr val="000000"/>
                </a:solidFill>
                <a:latin typeface="Roboto Slab Bold"/>
                <a:ea typeface="Roboto Slab Bold"/>
                <a:cs typeface="Roboto Slab Bold"/>
                <a:sym typeface="Roboto Slab Bold"/>
              </a:rPr>
              <a:t>Published</a:t>
            </a:r>
            <a:r>
              <a:rPr lang="en-US" sz="2199">
                <a:solidFill>
                  <a:srgbClr val="000000"/>
                </a:solidFill>
                <a:latin typeface="Roboto Slab"/>
                <a:ea typeface="Roboto Slab"/>
                <a:cs typeface="Roboto Slab"/>
                <a:sym typeface="Roboto Slab"/>
              </a:rPr>
              <a:t> </a:t>
            </a:r>
            <a:r>
              <a:rPr lang="en-US" b="true" sz="2199">
                <a:solidFill>
                  <a:srgbClr val="000000"/>
                </a:solidFill>
                <a:latin typeface="Roboto Slab Bold"/>
                <a:ea typeface="Roboto Slab Bold"/>
                <a:cs typeface="Roboto Slab Bold"/>
                <a:sym typeface="Roboto Slab Bold"/>
              </a:rPr>
              <a:t>Date</a:t>
            </a:r>
            <a:r>
              <a:rPr lang="en-US" sz="2199">
                <a:solidFill>
                  <a:srgbClr val="000000"/>
                </a:solidFill>
                <a:latin typeface="Roboto Slab"/>
                <a:ea typeface="Roboto Slab"/>
                <a:cs typeface="Roboto Slab"/>
                <a:sym typeface="Roboto Slab"/>
              </a:rPr>
              <a:t>: 2024</a:t>
            </a:r>
          </a:p>
          <a:p>
            <a:pPr algn="ctr">
              <a:lnSpc>
                <a:spcPts val="2749"/>
              </a:lnSpc>
              <a:spcBef>
                <a:spcPct val="0"/>
              </a:spcBef>
            </a:pPr>
            <a:r>
              <a:rPr lang="en-US" sz="2199">
                <a:solidFill>
                  <a:srgbClr val="000000"/>
                </a:solidFill>
                <a:latin typeface="Roboto Slab"/>
                <a:ea typeface="Roboto Slab"/>
                <a:cs typeface="Roboto Slab"/>
                <a:sym typeface="Roboto Slab"/>
              </a:rPr>
              <a:t>(</a:t>
            </a:r>
            <a:r>
              <a:rPr lang="en-US" b="true" sz="2199">
                <a:solidFill>
                  <a:srgbClr val="000000"/>
                </a:solidFill>
                <a:latin typeface="Roboto Slab Bold"/>
                <a:ea typeface="Roboto Slab Bold"/>
                <a:cs typeface="Roboto Slab Bold"/>
                <a:sym typeface="Roboto Slab Bold"/>
              </a:rPr>
              <a:t>Volume)</a:t>
            </a:r>
            <a:r>
              <a:rPr lang="en-US" sz="2199">
                <a:solidFill>
                  <a:srgbClr val="000000"/>
                </a:solidFill>
                <a:latin typeface="Roboto Slab"/>
                <a:ea typeface="Roboto Slab"/>
                <a:cs typeface="Roboto Slab"/>
                <a:sym typeface="Roboto Slab"/>
              </a:rPr>
              <a:t>: The specific volume number is not mentioned in the table, but the source is a 2024 edition of the IEEE journal.</a:t>
            </a:r>
          </a:p>
        </p:txBody>
      </p:sp>
    </p:spTree>
  </p:cSld>
  <p:clrMapOvr>
    <a:masterClrMapping/>
  </p:clrMapOvr>
  <p:transition spd="fast">
    <p:fade/>
  </p:transition>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3634" y="1294056"/>
            <a:ext cx="6968814" cy="491490"/>
          </a:xfrm>
          <a:prstGeom prst="rect">
            <a:avLst/>
          </a:prstGeom>
        </p:spPr>
        <p:txBody>
          <a:bodyPr anchor="t" rtlCol="false" tIns="0" lIns="0" bIns="0" rIns="0">
            <a:spAutoFit/>
          </a:bodyPr>
          <a:lstStyle/>
          <a:p>
            <a:pPr algn="l">
              <a:lnSpc>
                <a:spcPts val="3749"/>
              </a:lnSpc>
            </a:pPr>
            <a:r>
              <a:rPr lang="en-US" sz="3599">
                <a:solidFill>
                  <a:srgbClr val="000000"/>
                </a:solidFill>
                <a:latin typeface="Roboto Slab"/>
                <a:ea typeface="Roboto Slab"/>
                <a:cs typeface="Roboto Slab"/>
                <a:sym typeface="Roboto Slab"/>
              </a:rPr>
              <a:t>Aut</a:t>
            </a:r>
            <a:r>
              <a:rPr lang="en-US" sz="3599">
                <a:solidFill>
                  <a:srgbClr val="000000"/>
                </a:solidFill>
                <a:latin typeface="Roboto Slab"/>
                <a:ea typeface="Roboto Slab"/>
                <a:cs typeface="Roboto Slab"/>
                <a:sym typeface="Roboto Slab"/>
              </a:rPr>
              <a:t>omated Data Security</a:t>
            </a:r>
          </a:p>
        </p:txBody>
      </p:sp>
      <p:sp>
        <p:nvSpPr>
          <p:cNvPr name="TextBox 3" id="3"/>
          <p:cNvSpPr txBox="true"/>
          <p:nvPr/>
        </p:nvSpPr>
        <p:spPr>
          <a:xfrm rot="0">
            <a:off x="435286" y="270094"/>
            <a:ext cx="16953679" cy="575515"/>
          </a:xfrm>
          <a:prstGeom prst="rect">
            <a:avLst/>
          </a:prstGeom>
        </p:spPr>
        <p:txBody>
          <a:bodyPr anchor="t" rtlCol="false" tIns="0" lIns="0" bIns="0" rIns="0">
            <a:spAutoFit/>
          </a:bodyPr>
          <a:lstStyle/>
          <a:p>
            <a:pPr algn="l">
              <a:lnSpc>
                <a:spcPts val="4564"/>
              </a:lnSpc>
            </a:pPr>
            <a:r>
              <a:rPr lang="en-US" sz="3651">
                <a:solidFill>
                  <a:srgbClr val="3257B8"/>
                </a:solidFill>
                <a:latin typeface="Roboto Slab"/>
                <a:ea typeface="Roboto Slab"/>
                <a:cs typeface="Roboto Slab"/>
                <a:sym typeface="Roboto Slab"/>
              </a:rPr>
              <a:t>Abstract</a:t>
            </a:r>
          </a:p>
        </p:txBody>
      </p:sp>
      <p:sp>
        <p:nvSpPr>
          <p:cNvPr name="TextBox 4" id="4"/>
          <p:cNvSpPr txBox="true"/>
          <p:nvPr/>
        </p:nvSpPr>
        <p:spPr>
          <a:xfrm rot="0">
            <a:off x="1028700" y="2448042"/>
            <a:ext cx="15551966" cy="6600525"/>
          </a:xfrm>
          <a:prstGeom prst="rect">
            <a:avLst/>
          </a:prstGeom>
        </p:spPr>
        <p:txBody>
          <a:bodyPr anchor="t" rtlCol="false" tIns="0" lIns="0" bIns="0" rIns="0">
            <a:spAutoFit/>
          </a:bodyPr>
          <a:lstStyle/>
          <a:p>
            <a:pPr algn="just">
              <a:lnSpc>
                <a:spcPts val="3114"/>
              </a:lnSpc>
              <a:spcBef>
                <a:spcPct val="0"/>
              </a:spcBef>
            </a:pPr>
            <a:r>
              <a:rPr lang="en-US" b="true" sz="2991">
                <a:solidFill>
                  <a:srgbClr val="000000"/>
                </a:solidFill>
                <a:latin typeface="Roboto Slab Bold"/>
                <a:ea typeface="Roboto Slab Bold"/>
                <a:cs typeface="Roboto Slab Bold"/>
                <a:sym typeface="Roboto Slab Bold"/>
              </a:rPr>
              <a:t>Step 1: </a:t>
            </a:r>
            <a:r>
              <a:rPr lang="en-US" sz="2991">
                <a:solidFill>
                  <a:srgbClr val="000000"/>
                </a:solidFill>
                <a:latin typeface="Roboto Slab"/>
                <a:ea typeface="Roboto Slab"/>
                <a:cs typeface="Roboto Slab"/>
                <a:sym typeface="Roboto Slab"/>
              </a:rPr>
              <a:t>The Instant Trigger The moment a file is uploaded, a free S3 Event immediately triggers our central AWS Lambda function, which operates entirely within the permanent free tier.</a:t>
            </a:r>
          </a:p>
          <a:p>
            <a:pPr algn="just">
              <a:lnSpc>
                <a:spcPts val="3116"/>
              </a:lnSpc>
              <a:spcBef>
                <a:spcPct val="0"/>
              </a:spcBef>
            </a:pPr>
          </a:p>
          <a:p>
            <a:pPr algn="just">
              <a:lnSpc>
                <a:spcPts val="3114"/>
              </a:lnSpc>
              <a:spcBef>
                <a:spcPct val="0"/>
              </a:spcBef>
            </a:pPr>
            <a:r>
              <a:rPr lang="en-US" b="true" sz="2991">
                <a:solidFill>
                  <a:srgbClr val="000000"/>
                </a:solidFill>
                <a:latin typeface="Roboto Slab Bold"/>
                <a:ea typeface="Roboto Slab Bold"/>
                <a:cs typeface="Roboto Slab Bold"/>
                <a:sym typeface="Roboto Slab Bold"/>
              </a:rPr>
              <a:t>Step 2: </a:t>
            </a:r>
            <a:r>
              <a:rPr lang="en-US" sz="2991">
                <a:solidFill>
                  <a:srgbClr val="000000"/>
                </a:solidFill>
                <a:latin typeface="Roboto Slab"/>
                <a:ea typeface="Roboto Slab"/>
                <a:cs typeface="Roboto Slab"/>
                <a:sym typeface="Roboto Slab"/>
              </a:rPr>
              <a:t>The Two-Layer Open-Source Scan The Lambda function runs a self-contained, two-layer scan using free, open-source libraries packaged inside it:</a:t>
            </a:r>
          </a:p>
          <a:p>
            <a:pPr algn="just" marL="645855" indent="-322927" lvl="1">
              <a:lnSpc>
                <a:spcPts val="3114"/>
              </a:lnSpc>
              <a:spcBef>
                <a:spcPct val="0"/>
              </a:spcBef>
              <a:buFont typeface="Arial"/>
              <a:buChar char="•"/>
            </a:pPr>
            <a:r>
              <a:rPr lang="en-US" sz="2991">
                <a:solidFill>
                  <a:srgbClr val="000000"/>
                </a:solidFill>
                <a:latin typeface="Roboto Slab"/>
                <a:ea typeface="Roboto Slab"/>
                <a:cs typeface="Roboto Slab"/>
                <a:sym typeface="Roboto Slab"/>
              </a:rPr>
              <a:t>First, a rapid Regex scan for simple, obvious patterns like API keys or credit card numbers.</a:t>
            </a:r>
          </a:p>
          <a:p>
            <a:pPr algn="just" marL="645855" indent="-322927" lvl="1">
              <a:lnSpc>
                <a:spcPts val="3114"/>
              </a:lnSpc>
              <a:spcBef>
                <a:spcPct val="0"/>
              </a:spcBef>
              <a:buFont typeface="Arial"/>
              <a:buChar char="•"/>
            </a:pPr>
            <a:r>
              <a:rPr lang="en-US" sz="2991">
                <a:solidFill>
                  <a:srgbClr val="000000"/>
                </a:solidFill>
                <a:latin typeface="Roboto Slab"/>
                <a:ea typeface="Roboto Slab"/>
                <a:cs typeface="Roboto Slab"/>
                <a:sym typeface="Roboto Slab"/>
              </a:rPr>
              <a:t>If no match is found, it performs a deeper, contextual scan using a spaCy NER model to identify more complex PII like names and locations.</a:t>
            </a:r>
          </a:p>
          <a:p>
            <a:pPr algn="just">
              <a:lnSpc>
                <a:spcPts val="3116"/>
              </a:lnSpc>
              <a:spcBef>
                <a:spcPct val="0"/>
              </a:spcBef>
            </a:pPr>
          </a:p>
          <a:p>
            <a:pPr algn="just">
              <a:lnSpc>
                <a:spcPts val="3114"/>
              </a:lnSpc>
              <a:spcBef>
                <a:spcPct val="0"/>
              </a:spcBef>
            </a:pPr>
            <a:r>
              <a:rPr lang="en-US" b="true" sz="2991">
                <a:solidFill>
                  <a:srgbClr val="000000"/>
                </a:solidFill>
                <a:latin typeface="Roboto Slab Bold"/>
                <a:ea typeface="Roboto Slab Bold"/>
                <a:cs typeface="Roboto Slab Bold"/>
                <a:sym typeface="Roboto Slab Bold"/>
              </a:rPr>
              <a:t>Step 3: </a:t>
            </a:r>
            <a:r>
              <a:rPr lang="en-US" sz="2991">
                <a:solidFill>
                  <a:srgbClr val="000000"/>
                </a:solidFill>
                <a:latin typeface="Roboto Slab"/>
                <a:ea typeface="Roboto Slab"/>
                <a:cs typeface="Roboto Slab"/>
                <a:sym typeface="Roboto Slab"/>
              </a:rPr>
              <a:t>The Free Automated Lockdown If the scan finds sensitive data, the Lambda function executes an instant, free lockdown protocol:</a:t>
            </a:r>
          </a:p>
          <a:p>
            <a:pPr algn="just" marL="645855" indent="-322927" lvl="1">
              <a:lnSpc>
                <a:spcPts val="3116"/>
              </a:lnSpc>
              <a:spcBef>
                <a:spcPct val="0"/>
              </a:spcBef>
              <a:buAutoNum type="arabicPeriod" startAt="1"/>
            </a:pPr>
            <a:r>
              <a:rPr lang="en-US" sz="2991">
                <a:solidFill>
                  <a:srgbClr val="000000"/>
                </a:solidFill>
                <a:latin typeface="Roboto Slab"/>
                <a:ea typeface="Roboto Slab"/>
                <a:cs typeface="Roboto Slab"/>
                <a:sym typeface="Roboto Slab"/>
              </a:rPr>
              <a:t>It applies free, default server-side encryption (SSE-S3) to make the file unreadable.</a:t>
            </a:r>
          </a:p>
          <a:p>
            <a:pPr algn="just" marL="645855" indent="-322927" lvl="1">
              <a:lnSpc>
                <a:spcPts val="3116"/>
              </a:lnSpc>
              <a:spcBef>
                <a:spcPct val="0"/>
              </a:spcBef>
              <a:buAutoNum type="arabicPeriod" startAt="1"/>
            </a:pPr>
            <a:r>
              <a:rPr lang="en-US" sz="2991">
                <a:solidFill>
                  <a:srgbClr val="000000"/>
                </a:solidFill>
                <a:latin typeface="Roboto Slab"/>
                <a:ea typeface="Roboto Slab"/>
                <a:cs typeface="Roboto Slab"/>
                <a:sym typeface="Roboto Slab"/>
              </a:rPr>
              <a:t>It attaches a permanent S3 Object Tag to label the file as "confidential" for all future operations.</a:t>
            </a:r>
          </a:p>
          <a:p>
            <a:pPr algn="just">
              <a:lnSpc>
                <a:spcPts val="3114"/>
              </a:lnSpc>
              <a:spcBef>
                <a:spcPct val="0"/>
              </a:spcBef>
            </a:pPr>
          </a:p>
        </p:txBody>
      </p:sp>
    </p:spTree>
  </p:cSld>
  <p:clrMapOvr>
    <a:masterClrMapping/>
  </p:clrMapOvr>
  <p:transition spd="fast">
    <p:fade/>
  </p:transition>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55200" y="1308182"/>
            <a:ext cx="6968814" cy="491490"/>
          </a:xfrm>
          <a:prstGeom prst="rect">
            <a:avLst/>
          </a:prstGeom>
        </p:spPr>
        <p:txBody>
          <a:bodyPr anchor="t" rtlCol="false" tIns="0" lIns="0" bIns="0" rIns="0">
            <a:spAutoFit/>
          </a:bodyPr>
          <a:lstStyle/>
          <a:p>
            <a:pPr algn="l">
              <a:lnSpc>
                <a:spcPts val="3749"/>
              </a:lnSpc>
            </a:pPr>
            <a:r>
              <a:rPr lang="en-US" sz="3599">
                <a:solidFill>
                  <a:srgbClr val="000000"/>
                </a:solidFill>
                <a:latin typeface="Roboto Slab"/>
                <a:ea typeface="Roboto Slab"/>
                <a:cs typeface="Roboto Slab"/>
                <a:sym typeface="Roboto Slab"/>
              </a:rPr>
              <a:t>Aut</a:t>
            </a:r>
            <a:r>
              <a:rPr lang="en-US" sz="3599">
                <a:solidFill>
                  <a:srgbClr val="000000"/>
                </a:solidFill>
                <a:latin typeface="Roboto Slab"/>
                <a:ea typeface="Roboto Slab"/>
                <a:cs typeface="Roboto Slab"/>
                <a:sym typeface="Roboto Slab"/>
              </a:rPr>
              <a:t>omated Data Security</a:t>
            </a:r>
          </a:p>
        </p:txBody>
      </p:sp>
      <p:sp>
        <p:nvSpPr>
          <p:cNvPr name="TextBox 3" id="3"/>
          <p:cNvSpPr txBox="true"/>
          <p:nvPr/>
        </p:nvSpPr>
        <p:spPr>
          <a:xfrm rot="0">
            <a:off x="435286" y="270094"/>
            <a:ext cx="16953679" cy="575515"/>
          </a:xfrm>
          <a:prstGeom prst="rect">
            <a:avLst/>
          </a:prstGeom>
        </p:spPr>
        <p:txBody>
          <a:bodyPr anchor="t" rtlCol="false" tIns="0" lIns="0" bIns="0" rIns="0">
            <a:spAutoFit/>
          </a:bodyPr>
          <a:lstStyle/>
          <a:p>
            <a:pPr algn="l">
              <a:lnSpc>
                <a:spcPts val="4564"/>
              </a:lnSpc>
            </a:pPr>
            <a:r>
              <a:rPr lang="en-US" sz="3651">
                <a:solidFill>
                  <a:srgbClr val="3257B8"/>
                </a:solidFill>
                <a:latin typeface="Roboto Slab"/>
                <a:ea typeface="Roboto Slab"/>
                <a:cs typeface="Roboto Slab"/>
                <a:sym typeface="Roboto Slab"/>
              </a:rPr>
              <a:t>Abstract</a:t>
            </a:r>
          </a:p>
        </p:txBody>
      </p:sp>
      <p:sp>
        <p:nvSpPr>
          <p:cNvPr name="TextBox 4" id="4"/>
          <p:cNvSpPr txBox="true"/>
          <p:nvPr/>
        </p:nvSpPr>
        <p:spPr>
          <a:xfrm rot="0">
            <a:off x="655200" y="2252721"/>
            <a:ext cx="16935988" cy="7241771"/>
          </a:xfrm>
          <a:prstGeom prst="rect">
            <a:avLst/>
          </a:prstGeom>
        </p:spPr>
        <p:txBody>
          <a:bodyPr anchor="t" rtlCol="false" tIns="0" lIns="0" bIns="0" rIns="0">
            <a:spAutoFit/>
          </a:bodyPr>
          <a:lstStyle/>
          <a:p>
            <a:pPr algn="just">
              <a:lnSpc>
                <a:spcPts val="2926"/>
              </a:lnSpc>
              <a:spcBef>
                <a:spcPct val="0"/>
              </a:spcBef>
            </a:pPr>
            <a:r>
              <a:rPr lang="en-US" b="true" sz="2811">
                <a:solidFill>
                  <a:srgbClr val="000000"/>
                </a:solidFill>
                <a:latin typeface="Roboto Slab Bold"/>
                <a:ea typeface="Roboto Slab Bold"/>
                <a:cs typeface="Roboto Slab Bold"/>
                <a:sym typeface="Roboto Slab Bold"/>
              </a:rPr>
              <a:t>Step 1: The "Sensitive" Verdict</a:t>
            </a:r>
          </a:p>
          <a:p>
            <a:pPr algn="just">
              <a:lnSpc>
                <a:spcPts val="2926"/>
              </a:lnSpc>
              <a:spcBef>
                <a:spcPct val="0"/>
              </a:spcBef>
            </a:pPr>
            <a:r>
              <a:rPr lang="en-US" sz="2811">
                <a:solidFill>
                  <a:srgbClr val="000000"/>
                </a:solidFill>
                <a:latin typeface="Roboto Slab"/>
                <a:ea typeface="Roboto Slab"/>
                <a:cs typeface="Roboto Slab"/>
                <a:sym typeface="Roboto Slab"/>
              </a:rPr>
              <a:t>The process starts the moment our own free, open-source scanner finishes analyzing a newly uploaded file and concludes: "This file is sensitive."</a:t>
            </a:r>
          </a:p>
          <a:p>
            <a:pPr algn="just">
              <a:lnSpc>
                <a:spcPts val="2815"/>
              </a:lnSpc>
              <a:spcBef>
                <a:spcPct val="0"/>
              </a:spcBef>
            </a:pPr>
          </a:p>
          <a:p>
            <a:pPr algn="just">
              <a:lnSpc>
                <a:spcPts val="2926"/>
              </a:lnSpc>
              <a:spcBef>
                <a:spcPct val="0"/>
              </a:spcBef>
            </a:pPr>
            <a:r>
              <a:rPr lang="en-US" b="true" sz="2811">
                <a:solidFill>
                  <a:srgbClr val="000000"/>
                </a:solidFill>
                <a:latin typeface="Roboto Slab Bold"/>
                <a:ea typeface="Roboto Slab Bold"/>
                <a:cs typeface="Roboto Slab Bold"/>
                <a:sym typeface="Roboto Slab Bold"/>
              </a:rPr>
              <a:t>Step 2: Tag It for a Special Journey</a:t>
            </a:r>
          </a:p>
          <a:p>
            <a:pPr algn="just">
              <a:lnSpc>
                <a:spcPts val="2926"/>
              </a:lnSpc>
              <a:spcBef>
                <a:spcPct val="0"/>
              </a:spcBef>
            </a:pPr>
            <a:r>
              <a:rPr lang="en-US" sz="2811">
                <a:solidFill>
                  <a:srgbClr val="000000"/>
                </a:solidFill>
                <a:latin typeface="Roboto Slab"/>
                <a:ea typeface="Roboto Slab"/>
                <a:cs typeface="Roboto Slab"/>
                <a:sym typeface="Roboto Slab"/>
              </a:rPr>
              <a:t>Our AWS Lambda function immediately attaches a specific digital "Post-it note" to the file—an S3 Object Tag that reads replication-scope=multi-region. This tag is a special instruction for the AWS system.</a:t>
            </a:r>
          </a:p>
          <a:p>
            <a:pPr algn="just">
              <a:lnSpc>
                <a:spcPts val="2926"/>
              </a:lnSpc>
              <a:spcBef>
                <a:spcPct val="0"/>
              </a:spcBef>
            </a:pPr>
          </a:p>
          <a:p>
            <a:pPr algn="just">
              <a:lnSpc>
                <a:spcPts val="2926"/>
              </a:lnSpc>
              <a:spcBef>
                <a:spcPct val="0"/>
              </a:spcBef>
            </a:pPr>
            <a:r>
              <a:rPr lang="en-US" b="true" sz="2811">
                <a:solidFill>
                  <a:srgbClr val="000000"/>
                </a:solidFill>
                <a:latin typeface="Roboto Slab Bold"/>
                <a:ea typeface="Roboto Slab Bold"/>
                <a:cs typeface="Roboto Slab Bold"/>
                <a:sym typeface="Roboto Slab Bold"/>
              </a:rPr>
              <a:t>S</a:t>
            </a:r>
            <a:r>
              <a:rPr lang="en-US" b="true" sz="2811">
                <a:solidFill>
                  <a:srgbClr val="000000"/>
                </a:solidFill>
                <a:latin typeface="Roboto Slab Bold"/>
                <a:ea typeface="Roboto Slab Bold"/>
                <a:cs typeface="Roboto Slab Bold"/>
                <a:sym typeface="Roboto Slab Bold"/>
              </a:rPr>
              <a:t>tep 3: AWS Takes Over the Transfer</a:t>
            </a:r>
          </a:p>
          <a:p>
            <a:pPr algn="just">
              <a:lnSpc>
                <a:spcPts val="2926"/>
              </a:lnSpc>
              <a:spcBef>
                <a:spcPct val="0"/>
              </a:spcBef>
            </a:pPr>
            <a:r>
              <a:rPr lang="en-US" sz="2811">
                <a:solidFill>
                  <a:srgbClr val="000000"/>
                </a:solidFill>
                <a:latin typeface="Roboto Slab"/>
                <a:ea typeface="Roboto Slab"/>
                <a:cs typeface="Roboto Slab"/>
                <a:sym typeface="Roboto Slab"/>
              </a:rPr>
              <a:t>AWS's own super-reliable, built-in feature, S3 Cross-Region Replication (CRR), is constantly watching for that specific tag. The moment it sees our tag, it automatically and securely copies the file in the background over its private global network to our pre-defined backup bucket in a different continent (e.g., from the USA to India).</a:t>
            </a:r>
          </a:p>
          <a:p>
            <a:pPr algn="just">
              <a:lnSpc>
                <a:spcPts val="2926"/>
              </a:lnSpc>
              <a:spcBef>
                <a:spcPct val="0"/>
              </a:spcBef>
            </a:pPr>
          </a:p>
          <a:p>
            <a:pPr algn="just">
              <a:lnSpc>
                <a:spcPts val="2926"/>
              </a:lnSpc>
              <a:spcBef>
                <a:spcPct val="0"/>
              </a:spcBef>
            </a:pPr>
            <a:r>
              <a:rPr lang="en-US" b="true" sz="2811">
                <a:solidFill>
                  <a:srgbClr val="000000"/>
                </a:solidFill>
                <a:latin typeface="Roboto Slab Bold"/>
                <a:ea typeface="Roboto Slab Bold"/>
                <a:cs typeface="Roboto Slab Bold"/>
                <a:sym typeface="Roboto Slab Bold"/>
              </a:rPr>
              <a:t>Step 4: Geo-Redundancy Achieved</a:t>
            </a:r>
          </a:p>
          <a:p>
            <a:pPr algn="just">
              <a:lnSpc>
                <a:spcPts val="2928"/>
              </a:lnSpc>
              <a:spcBef>
                <a:spcPct val="0"/>
              </a:spcBef>
            </a:pPr>
            <a:r>
              <a:rPr lang="en-US" sz="2811">
                <a:solidFill>
                  <a:srgbClr val="000000"/>
                </a:solidFill>
                <a:latin typeface="Roboto Slab"/>
                <a:ea typeface="Roboto Slab"/>
                <a:cs typeface="Roboto Slab"/>
                <a:sym typeface="Roboto Slab"/>
              </a:rPr>
              <a:t>Within minutes, the sensitive file now exists in two physically separate locations across the globe. We have a primary copy for active use and a backup copy safe from any regional disaster, guaranteeing its security and availability.</a:t>
            </a:r>
          </a:p>
          <a:p>
            <a:pPr algn="just">
              <a:lnSpc>
                <a:spcPts val="2926"/>
              </a:lnSpc>
              <a:spcBef>
                <a:spcPct val="0"/>
              </a:spcBef>
            </a:pPr>
          </a:p>
        </p:txBody>
      </p:sp>
    </p:spTree>
  </p:cSld>
  <p:clrMapOvr>
    <a:masterClrMapping/>
  </p:clrMapOvr>
  <p:transition spd="fast">
    <p:fade/>
  </p:transition>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7938" y="-7938"/>
            <a:ext cx="18303875" cy="10302875"/>
            <a:chOff x="0" y="0"/>
            <a:chExt cx="24405167" cy="13737167"/>
          </a:xfrm>
        </p:grpSpPr>
        <p:sp>
          <p:nvSpPr>
            <p:cNvPr name="Freeform 3" id="3"/>
            <p:cNvSpPr/>
            <p:nvPr/>
          </p:nvSpPr>
          <p:spPr>
            <a:xfrm flipH="false" flipV="false" rot="0">
              <a:off x="10541" y="10541"/>
              <a:ext cx="24383999" cy="13715999"/>
            </a:xfrm>
            <a:custGeom>
              <a:avLst/>
              <a:gdLst/>
              <a:ahLst/>
              <a:cxnLst/>
              <a:rect r="r" b="b" t="t" l="l"/>
              <a:pathLst>
                <a:path h="13715999" w="24383999">
                  <a:moveTo>
                    <a:pt x="0" y="0"/>
                  </a:moveTo>
                  <a:lnTo>
                    <a:pt x="24383999" y="0"/>
                  </a:lnTo>
                  <a:lnTo>
                    <a:pt x="24383999" y="13715999"/>
                  </a:lnTo>
                  <a:lnTo>
                    <a:pt x="0" y="13715999"/>
                  </a:lnTo>
                  <a:close/>
                </a:path>
              </a:pathLst>
            </a:custGeom>
            <a:solidFill>
              <a:srgbClr val="EDF1F8"/>
            </a:solidFill>
          </p:spPr>
        </p:sp>
      </p:grpSp>
      <p:grpSp>
        <p:nvGrpSpPr>
          <p:cNvPr name="Group 4" id="4"/>
          <p:cNvGrpSpPr/>
          <p:nvPr/>
        </p:nvGrpSpPr>
        <p:grpSpPr>
          <a:xfrm rot="0">
            <a:off x="-7938" y="-7938"/>
            <a:ext cx="18303875" cy="10302875"/>
            <a:chOff x="0" y="0"/>
            <a:chExt cx="24405167" cy="13737167"/>
          </a:xfrm>
        </p:grpSpPr>
        <p:sp>
          <p:nvSpPr>
            <p:cNvPr name="Freeform 5" id="5"/>
            <p:cNvSpPr/>
            <p:nvPr/>
          </p:nvSpPr>
          <p:spPr>
            <a:xfrm flipH="false" flipV="false" rot="0">
              <a:off x="10541" y="10541"/>
              <a:ext cx="24383999" cy="13715999"/>
            </a:xfrm>
            <a:custGeom>
              <a:avLst/>
              <a:gdLst/>
              <a:ahLst/>
              <a:cxnLst/>
              <a:rect r="r" b="b" t="t" l="l"/>
              <a:pathLst>
                <a:path h="13715999" w="24383999">
                  <a:moveTo>
                    <a:pt x="0" y="0"/>
                  </a:moveTo>
                  <a:lnTo>
                    <a:pt x="24383999" y="0"/>
                  </a:lnTo>
                  <a:lnTo>
                    <a:pt x="24383999" y="13715999"/>
                  </a:lnTo>
                  <a:lnTo>
                    <a:pt x="0" y="13715999"/>
                  </a:lnTo>
                  <a:close/>
                </a:path>
              </a:pathLst>
            </a:custGeom>
            <a:solidFill>
              <a:srgbClr val="FBFCFE"/>
            </a:solidFill>
          </p:spPr>
        </p:sp>
      </p:grpSp>
      <p:sp>
        <p:nvSpPr>
          <p:cNvPr name="TextBox 6" id="6"/>
          <p:cNvSpPr txBox="true"/>
          <p:nvPr/>
        </p:nvSpPr>
        <p:spPr>
          <a:xfrm rot="0">
            <a:off x="660764" y="212736"/>
            <a:ext cx="6525309" cy="1568450"/>
          </a:xfrm>
          <a:prstGeom prst="rect">
            <a:avLst/>
          </a:prstGeom>
        </p:spPr>
        <p:txBody>
          <a:bodyPr anchor="t" rtlCol="false" tIns="0" lIns="0" bIns="0" rIns="0">
            <a:spAutoFit/>
          </a:bodyPr>
          <a:lstStyle/>
          <a:p>
            <a:pPr algn="l">
              <a:lnSpc>
                <a:spcPts val="6249"/>
              </a:lnSpc>
            </a:pPr>
            <a:r>
              <a:rPr lang="en-US" sz="4999">
                <a:solidFill>
                  <a:srgbClr val="3257B8"/>
                </a:solidFill>
                <a:latin typeface="Roboto Slab"/>
                <a:ea typeface="Roboto Slab"/>
                <a:cs typeface="Roboto Slab"/>
                <a:sym typeface="Roboto Slab"/>
              </a:rPr>
              <a:t>Observability &amp; Control</a:t>
            </a:r>
          </a:p>
        </p:txBody>
      </p:sp>
      <p:grpSp>
        <p:nvGrpSpPr>
          <p:cNvPr name="Group 7" id="7"/>
          <p:cNvGrpSpPr>
            <a:grpSpLocks noChangeAspect="true"/>
          </p:cNvGrpSpPr>
          <p:nvPr/>
        </p:nvGrpSpPr>
        <p:grpSpPr>
          <a:xfrm rot="0">
            <a:off x="647420" y="2244758"/>
            <a:ext cx="6551997" cy="6551997"/>
            <a:chOff x="0" y="0"/>
            <a:chExt cx="8735997" cy="8735997"/>
          </a:xfrm>
        </p:grpSpPr>
        <p:sp>
          <p:nvSpPr>
            <p:cNvPr name="Freeform 8" id="8" descr="Image 0"/>
            <p:cNvSpPr/>
            <p:nvPr/>
          </p:nvSpPr>
          <p:spPr>
            <a:xfrm flipH="false" flipV="false" rot="0">
              <a:off x="0" y="0"/>
              <a:ext cx="8735949" cy="8735949"/>
            </a:xfrm>
            <a:custGeom>
              <a:avLst/>
              <a:gdLst/>
              <a:ahLst/>
              <a:cxnLst/>
              <a:rect r="r" b="b" t="t" l="l"/>
              <a:pathLst>
                <a:path h="8735949" w="8735949">
                  <a:moveTo>
                    <a:pt x="0" y="0"/>
                  </a:moveTo>
                  <a:lnTo>
                    <a:pt x="8735949" y="0"/>
                  </a:lnTo>
                  <a:lnTo>
                    <a:pt x="8735949" y="8735949"/>
                  </a:lnTo>
                  <a:lnTo>
                    <a:pt x="0" y="8735949"/>
                  </a:lnTo>
                  <a:lnTo>
                    <a:pt x="0" y="0"/>
                  </a:lnTo>
                  <a:close/>
                </a:path>
              </a:pathLst>
            </a:custGeom>
            <a:blipFill>
              <a:blip r:embed="rId2"/>
              <a:stretch>
                <a:fillRect l="0" t="0" r="0" b="0"/>
              </a:stretch>
            </a:blipFill>
          </p:spPr>
        </p:sp>
      </p:grpSp>
      <p:sp>
        <p:nvSpPr>
          <p:cNvPr name="TextBox 9" id="9"/>
          <p:cNvSpPr txBox="true"/>
          <p:nvPr/>
        </p:nvSpPr>
        <p:spPr>
          <a:xfrm rot="0">
            <a:off x="2051254" y="2366092"/>
            <a:ext cx="4442980" cy="457200"/>
          </a:xfrm>
          <a:prstGeom prst="rect">
            <a:avLst/>
          </a:prstGeom>
        </p:spPr>
        <p:txBody>
          <a:bodyPr anchor="t" rtlCol="false" tIns="0" lIns="0" bIns="0" rIns="0">
            <a:spAutoFit/>
          </a:bodyPr>
          <a:lstStyle/>
          <a:p>
            <a:pPr algn="l">
              <a:lnSpc>
                <a:spcPts val="3749"/>
              </a:lnSpc>
            </a:pPr>
            <a:r>
              <a:rPr lang="en-US" sz="3000">
                <a:solidFill>
                  <a:srgbClr val="3257B8"/>
                </a:solidFill>
                <a:latin typeface="Roboto Slab"/>
                <a:ea typeface="Roboto Slab"/>
                <a:cs typeface="Roboto Slab"/>
                <a:sym typeface="Roboto Slab"/>
              </a:rPr>
              <a:t>Centralized Dashboard</a:t>
            </a:r>
          </a:p>
        </p:txBody>
      </p:sp>
      <p:sp>
        <p:nvSpPr>
          <p:cNvPr name="TextBox 10" id="10"/>
          <p:cNvSpPr txBox="true"/>
          <p:nvPr/>
        </p:nvSpPr>
        <p:spPr>
          <a:xfrm rot="0">
            <a:off x="8220246" y="1009650"/>
            <a:ext cx="9714912" cy="8048625"/>
          </a:xfrm>
          <a:prstGeom prst="rect">
            <a:avLst/>
          </a:prstGeom>
        </p:spPr>
        <p:txBody>
          <a:bodyPr anchor="t" rtlCol="false" tIns="0" lIns="0" bIns="0" rIns="0">
            <a:spAutoFit/>
          </a:bodyPr>
          <a:lstStyle/>
          <a:p>
            <a:pPr algn="l">
              <a:lnSpc>
                <a:spcPts val="3429"/>
              </a:lnSpc>
            </a:pPr>
            <a:r>
              <a:rPr lang="en-US" sz="2857">
                <a:solidFill>
                  <a:srgbClr val="000000"/>
                </a:solidFill>
                <a:latin typeface="Arab Times"/>
                <a:ea typeface="Arab Times"/>
                <a:cs typeface="Arab Times"/>
                <a:sym typeface="Arab Times"/>
              </a:rPr>
              <a:t>Cloud Mission Control Dashboard</a:t>
            </a:r>
          </a:p>
          <a:p>
            <a:pPr algn="l">
              <a:lnSpc>
                <a:spcPts val="3429"/>
              </a:lnSpc>
            </a:pPr>
          </a:p>
          <a:p>
            <a:pPr algn="l">
              <a:lnSpc>
                <a:spcPts val="2229"/>
              </a:lnSpc>
            </a:pPr>
            <a:r>
              <a:rPr lang="en-US" sz="1857">
                <a:solidFill>
                  <a:srgbClr val="000000"/>
                </a:solidFill>
                <a:latin typeface="Arab Times"/>
                <a:ea typeface="Arab Times"/>
                <a:cs typeface="Arab Times"/>
                <a:sym typeface="Arab Times"/>
              </a:rPr>
              <a:t>A single-pane-of-glass for unified multi-cloud intelligence.</a:t>
            </a:r>
          </a:p>
          <a:p>
            <a:pPr algn="l">
              <a:lnSpc>
                <a:spcPts val="2229"/>
              </a:lnSpc>
            </a:pPr>
          </a:p>
          <a:p>
            <a:pPr algn="l" marL="487419" indent="-243709" lvl="1">
              <a:lnSpc>
                <a:spcPts val="2709"/>
              </a:lnSpc>
              <a:buFont typeface="Arial"/>
              <a:buChar char="•"/>
            </a:pPr>
            <a:r>
              <a:rPr lang="en-US" sz="2257">
                <a:solidFill>
                  <a:srgbClr val="000000"/>
                </a:solidFill>
                <a:latin typeface="Arab Times"/>
                <a:ea typeface="Arab Times"/>
                <a:cs typeface="Arab Times"/>
                <a:sym typeface="Arab Times"/>
              </a:rPr>
              <a:t>Financial Hub (FinOps)</a:t>
            </a:r>
          </a:p>
          <a:p>
            <a:pPr algn="l" marL="1203182" indent="-300796" lvl="3">
              <a:lnSpc>
                <a:spcPts val="2229"/>
              </a:lnSpc>
              <a:buFont typeface="Arial"/>
              <a:buChar char="￭"/>
            </a:pPr>
            <a:r>
              <a:rPr lang="en-US" sz="1857">
                <a:solidFill>
                  <a:srgbClr val="000000"/>
                </a:solidFill>
                <a:latin typeface="Arab Times"/>
                <a:ea typeface="Arab Times"/>
                <a:cs typeface="Arab Times"/>
                <a:sym typeface="Arab Times"/>
              </a:rPr>
              <a:t>Multi-Cloud Cost Tracking</a:t>
            </a:r>
            <a:r>
              <a:rPr lang="en-US" sz="1857">
                <a:solidFill>
                  <a:srgbClr val="000000"/>
                </a:solidFill>
                <a:latin typeface="Arab Times"/>
                <a:ea typeface="Arab Times"/>
                <a:cs typeface="Arab Times"/>
                <a:sym typeface="Arab Times"/>
              </a:rPr>
              <a:t>:</a:t>
            </a:r>
            <a:r>
              <a:rPr lang="en-US" sz="1857">
                <a:solidFill>
                  <a:srgbClr val="000000"/>
                </a:solidFill>
                <a:latin typeface="Arab Times"/>
                <a:ea typeface="Arab Times"/>
                <a:cs typeface="Arab Times"/>
                <a:sym typeface="Arab Times"/>
              </a:rPr>
              <a:t> View costs by service, project, or tag.</a:t>
            </a:r>
          </a:p>
          <a:p>
            <a:pPr algn="l" marL="1203182" indent="-300796" lvl="3">
              <a:lnSpc>
                <a:spcPts val="2229"/>
              </a:lnSpc>
              <a:buFont typeface="Arial"/>
              <a:buChar char="￭"/>
            </a:pPr>
            <a:r>
              <a:rPr lang="en-US" sz="1857">
                <a:solidFill>
                  <a:srgbClr val="000000"/>
                </a:solidFill>
                <a:latin typeface="Arab Times"/>
                <a:ea typeface="Arab Times"/>
                <a:cs typeface="Arab Times"/>
                <a:sym typeface="Arab Times"/>
              </a:rPr>
              <a:t>AI Anomaly Detection</a:t>
            </a:r>
            <a:r>
              <a:rPr lang="en-US" sz="1857">
                <a:solidFill>
                  <a:srgbClr val="000000"/>
                </a:solidFill>
                <a:latin typeface="Arab Times"/>
                <a:ea typeface="Arab Times"/>
                <a:cs typeface="Arab Times"/>
                <a:sym typeface="Arab Times"/>
              </a:rPr>
              <a:t>:</a:t>
            </a:r>
            <a:r>
              <a:rPr lang="en-US" sz="1857">
                <a:solidFill>
                  <a:srgbClr val="000000"/>
                </a:solidFill>
                <a:latin typeface="Arab Times"/>
                <a:ea typeface="Arab Times"/>
                <a:cs typeface="Arab Times"/>
                <a:sym typeface="Arab Times"/>
              </a:rPr>
              <a:t> Get alerts on unusual spending.</a:t>
            </a:r>
          </a:p>
          <a:p>
            <a:pPr algn="l" marL="1203182" indent="-300796" lvl="3">
              <a:lnSpc>
                <a:spcPts val="2229"/>
              </a:lnSpc>
              <a:buFont typeface="Arial"/>
              <a:buChar char="￭"/>
            </a:pPr>
            <a:r>
              <a:rPr lang="en-US" sz="1857">
                <a:solidFill>
                  <a:srgbClr val="000000"/>
                </a:solidFill>
                <a:latin typeface="Arab Times"/>
                <a:ea typeface="Arab Times"/>
                <a:cs typeface="Arab Times"/>
                <a:sym typeface="Arab Times"/>
              </a:rPr>
              <a:t>Savings Simulator</a:t>
            </a:r>
            <a:r>
              <a:rPr lang="en-US" sz="1857">
                <a:solidFill>
                  <a:srgbClr val="000000"/>
                </a:solidFill>
                <a:latin typeface="Arab Times"/>
                <a:ea typeface="Arab Times"/>
                <a:cs typeface="Arab Times"/>
                <a:sym typeface="Arab Times"/>
              </a:rPr>
              <a:t>:</a:t>
            </a:r>
            <a:r>
              <a:rPr lang="en-US" sz="1857">
                <a:solidFill>
                  <a:srgbClr val="000000"/>
                </a:solidFill>
                <a:latin typeface="Arab Times"/>
                <a:ea typeface="Arab Times"/>
                <a:cs typeface="Arab Times"/>
                <a:sym typeface="Arab Times"/>
              </a:rPr>
              <a:t> Model the impact of optimizations.</a:t>
            </a:r>
          </a:p>
          <a:p>
            <a:pPr algn="l" marL="1203182" indent="-300796" lvl="3">
              <a:lnSpc>
                <a:spcPts val="2229"/>
              </a:lnSpc>
              <a:buFont typeface="Arial"/>
              <a:buChar char="￭"/>
            </a:pPr>
            <a:r>
              <a:rPr lang="en-US" sz="1857">
                <a:solidFill>
                  <a:srgbClr val="000000"/>
                </a:solidFill>
                <a:latin typeface="Arab Times"/>
                <a:ea typeface="Arab Times"/>
                <a:cs typeface="Arab Times"/>
                <a:sym typeface="Arab Times"/>
              </a:rPr>
              <a:t>Budgeting &amp; Forecasting</a:t>
            </a:r>
            <a:r>
              <a:rPr lang="en-US" sz="1857">
                <a:solidFill>
                  <a:srgbClr val="000000"/>
                </a:solidFill>
                <a:latin typeface="Arab Times"/>
                <a:ea typeface="Arab Times"/>
                <a:cs typeface="Arab Times"/>
                <a:sym typeface="Arab Times"/>
              </a:rPr>
              <a:t>:</a:t>
            </a:r>
            <a:r>
              <a:rPr lang="en-US" sz="1857">
                <a:solidFill>
                  <a:srgbClr val="000000"/>
                </a:solidFill>
                <a:latin typeface="Arab Times"/>
                <a:ea typeface="Arab Times"/>
                <a:cs typeface="Arab Times"/>
                <a:sym typeface="Arab Times"/>
              </a:rPr>
              <a:t> Track budgets with ML-powered forecasts.</a:t>
            </a:r>
          </a:p>
          <a:p>
            <a:pPr algn="l">
              <a:lnSpc>
                <a:spcPts val="2229"/>
              </a:lnSpc>
            </a:pPr>
          </a:p>
          <a:p>
            <a:pPr algn="l" marL="487419" indent="-243709" lvl="1">
              <a:lnSpc>
                <a:spcPts val="2709"/>
              </a:lnSpc>
              <a:buFont typeface="Arial"/>
              <a:buChar char="•"/>
            </a:pPr>
            <a:r>
              <a:rPr lang="en-US" sz="2257">
                <a:solidFill>
                  <a:srgbClr val="000000"/>
                </a:solidFill>
                <a:latin typeface="Arab Times"/>
                <a:ea typeface="Arab Times"/>
                <a:cs typeface="Arab Times"/>
                <a:sym typeface="Arab Times"/>
              </a:rPr>
              <a:t>Operations Hub (DevOps)</a:t>
            </a:r>
          </a:p>
          <a:p>
            <a:pPr algn="l" marL="1138414" indent="-284603" lvl="3">
              <a:lnSpc>
                <a:spcPts val="2109"/>
              </a:lnSpc>
              <a:buFont typeface="Arial"/>
              <a:buChar char="￭"/>
            </a:pPr>
            <a:r>
              <a:rPr lang="en-US" sz="1757">
                <a:solidFill>
                  <a:srgbClr val="000000"/>
                </a:solidFill>
                <a:latin typeface="Arab Times"/>
                <a:ea typeface="Arab Times"/>
                <a:cs typeface="Arab Times"/>
                <a:sym typeface="Arab Times"/>
              </a:rPr>
              <a:t>    </a:t>
            </a:r>
            <a:r>
              <a:rPr lang="en-US" sz="1757">
                <a:solidFill>
                  <a:srgbClr val="000000"/>
                </a:solidFill>
                <a:latin typeface="Arab Times"/>
                <a:ea typeface="Arab Times"/>
                <a:cs typeface="Arab Times"/>
                <a:sym typeface="Arab Times"/>
              </a:rPr>
              <a:t>Global Health Map</a:t>
            </a:r>
            <a:r>
              <a:rPr lang="en-US" sz="1757">
                <a:solidFill>
                  <a:srgbClr val="000000"/>
                </a:solidFill>
                <a:latin typeface="Arab Times"/>
                <a:ea typeface="Arab Times"/>
                <a:cs typeface="Arab Times"/>
                <a:sym typeface="Arab Times"/>
              </a:rPr>
              <a:t>:</a:t>
            </a:r>
            <a:r>
              <a:rPr lang="en-US" sz="1757">
                <a:solidFill>
                  <a:srgbClr val="000000"/>
                </a:solidFill>
                <a:latin typeface="Arab Times"/>
                <a:ea typeface="Arab Times"/>
                <a:cs typeface="Arab Times"/>
                <a:sym typeface="Arab Times"/>
              </a:rPr>
              <a:t> Visualize the real-time health of all resources.</a:t>
            </a:r>
          </a:p>
          <a:p>
            <a:pPr algn="l" marL="1203182" indent="-300796" lvl="3">
              <a:lnSpc>
                <a:spcPts val="2229"/>
              </a:lnSpc>
              <a:buFont typeface="Arial"/>
              <a:buChar char="￭"/>
            </a:pPr>
            <a:r>
              <a:rPr lang="en-US" sz="1857">
                <a:solidFill>
                  <a:srgbClr val="000000"/>
                </a:solidFill>
                <a:latin typeface="Arab Times"/>
                <a:ea typeface="Arab Times"/>
                <a:cs typeface="Arab Times"/>
                <a:sym typeface="Arab Times"/>
              </a:rPr>
              <a:t>Predictive Scaling Visualizer</a:t>
            </a:r>
            <a:r>
              <a:rPr lang="en-US" sz="1857">
                <a:solidFill>
                  <a:srgbClr val="000000"/>
                </a:solidFill>
                <a:latin typeface="Arab Times"/>
                <a:ea typeface="Arab Times"/>
                <a:cs typeface="Arab Times"/>
                <a:sym typeface="Arab Times"/>
              </a:rPr>
              <a:t>:</a:t>
            </a:r>
            <a:r>
              <a:rPr lang="en-US" sz="1857">
                <a:solidFill>
                  <a:srgbClr val="000000"/>
                </a:solidFill>
                <a:latin typeface="Arab Times"/>
                <a:ea typeface="Arab Times"/>
                <a:cs typeface="Arab Times"/>
                <a:sym typeface="Arab Times"/>
              </a:rPr>
              <a:t> See proactive scaling actions before they happen.</a:t>
            </a:r>
          </a:p>
          <a:p>
            <a:pPr algn="l" marL="1203182" indent="-300796" lvl="3">
              <a:lnSpc>
                <a:spcPts val="2229"/>
              </a:lnSpc>
              <a:buFont typeface="Arial"/>
              <a:buChar char="￭"/>
            </a:pPr>
            <a:r>
              <a:rPr lang="en-US" sz="1857">
                <a:solidFill>
                  <a:srgbClr val="000000"/>
                </a:solidFill>
                <a:latin typeface="Arab Times"/>
                <a:ea typeface="Arab Times"/>
                <a:cs typeface="Arab Times"/>
                <a:sym typeface="Arab Times"/>
              </a:rPr>
              <a:t>Waste Finder</a:t>
            </a:r>
            <a:r>
              <a:rPr lang="en-US" sz="1857">
                <a:solidFill>
                  <a:srgbClr val="000000"/>
                </a:solidFill>
                <a:latin typeface="Arab Times"/>
                <a:ea typeface="Arab Times"/>
                <a:cs typeface="Arab Times"/>
                <a:sym typeface="Arab Times"/>
              </a:rPr>
              <a:t>:</a:t>
            </a:r>
            <a:r>
              <a:rPr lang="en-US" sz="1857">
                <a:solidFill>
                  <a:srgbClr val="000000"/>
                </a:solidFill>
                <a:latin typeface="Arab Times"/>
                <a:ea typeface="Arab Times"/>
                <a:cs typeface="Arab Times"/>
                <a:sym typeface="Arab Times"/>
              </a:rPr>
              <a:t> Identify and eliminate idle resources (zombie VMs, unattached disks)</a:t>
            </a:r>
          </a:p>
          <a:p>
            <a:pPr algn="l">
              <a:lnSpc>
                <a:spcPts val="2229"/>
              </a:lnSpc>
            </a:pPr>
          </a:p>
          <a:p>
            <a:pPr algn="l" marL="509008" indent="-254504" lvl="1">
              <a:lnSpc>
                <a:spcPts val="2829"/>
              </a:lnSpc>
              <a:buFont typeface="Arial"/>
              <a:buChar char="•"/>
            </a:pPr>
            <a:r>
              <a:rPr lang="en-US" sz="2357">
                <a:solidFill>
                  <a:srgbClr val="000000"/>
                </a:solidFill>
                <a:latin typeface="Arab Times"/>
                <a:ea typeface="Arab Times"/>
                <a:cs typeface="Arab Times"/>
                <a:sym typeface="Arab Times"/>
              </a:rPr>
              <a:t> Security Hub (SecOps)</a:t>
            </a:r>
          </a:p>
          <a:p>
            <a:pPr algn="l" marL="1203182" indent="-300796" lvl="3">
              <a:lnSpc>
                <a:spcPts val="2229"/>
              </a:lnSpc>
              <a:buFont typeface="Arial"/>
              <a:buChar char="￭"/>
            </a:pPr>
            <a:r>
              <a:rPr lang="en-US" sz="1857">
                <a:solidFill>
                  <a:srgbClr val="000000"/>
                </a:solidFill>
                <a:latin typeface="Arab Times"/>
                <a:ea typeface="Arab Times"/>
                <a:cs typeface="Arab Times"/>
                <a:sym typeface="Arab Times"/>
              </a:rPr>
              <a:t>Unified Alert Feed: A single, prioritized list of multi-cloud security threats.</a:t>
            </a:r>
          </a:p>
          <a:p>
            <a:pPr algn="l" marL="1203182" indent="-300796" lvl="3">
              <a:lnSpc>
                <a:spcPts val="2229"/>
              </a:lnSpc>
              <a:buFont typeface="Arial"/>
              <a:buChar char="￭"/>
            </a:pPr>
            <a:r>
              <a:rPr lang="en-US" sz="1857">
                <a:solidFill>
                  <a:srgbClr val="000000"/>
                </a:solidFill>
                <a:latin typeface="Arab Times"/>
                <a:ea typeface="Arab Times"/>
                <a:cs typeface="Arab Times"/>
                <a:sym typeface="Arab Times"/>
              </a:rPr>
              <a:t>Compliance Scorecards</a:t>
            </a:r>
            <a:r>
              <a:rPr lang="en-US" sz="1857">
                <a:solidFill>
                  <a:srgbClr val="000000"/>
                </a:solidFill>
                <a:latin typeface="Arab Times"/>
                <a:ea typeface="Arab Times"/>
                <a:cs typeface="Arab Times"/>
                <a:sym typeface="Arab Times"/>
              </a:rPr>
              <a:t>:</a:t>
            </a:r>
            <a:r>
              <a:rPr lang="en-US" sz="1857">
                <a:solidFill>
                  <a:srgbClr val="000000"/>
                </a:solidFill>
                <a:latin typeface="Arab Times"/>
                <a:ea typeface="Arab Times"/>
                <a:cs typeface="Arab Times"/>
                <a:sym typeface="Arab Times"/>
              </a:rPr>
              <a:t> Track compliance in real-time (CIS, GDPR, HIPAA).</a:t>
            </a:r>
          </a:p>
          <a:p>
            <a:pPr algn="l" marL="1203182" indent="-300796" lvl="3">
              <a:lnSpc>
                <a:spcPts val="2229"/>
              </a:lnSpc>
              <a:buFont typeface="Arial"/>
              <a:buChar char="￭"/>
            </a:pPr>
            <a:r>
              <a:rPr lang="en-US" sz="1857">
                <a:solidFill>
                  <a:srgbClr val="000000"/>
                </a:solidFill>
                <a:latin typeface="Arab Times"/>
                <a:ea typeface="Arab Times"/>
                <a:cs typeface="Arab Times"/>
                <a:sym typeface="Arab Times"/>
              </a:rPr>
              <a:t>Sensitive Data Mapping</a:t>
            </a:r>
            <a:r>
              <a:rPr lang="en-US" sz="1857">
                <a:solidFill>
                  <a:srgbClr val="000000"/>
                </a:solidFill>
                <a:latin typeface="Arab Times"/>
                <a:ea typeface="Arab Times"/>
                <a:cs typeface="Arab Times"/>
                <a:sym typeface="Arab Times"/>
              </a:rPr>
              <a:t>:</a:t>
            </a:r>
            <a:r>
              <a:rPr lang="en-US" sz="1857">
                <a:solidFill>
                  <a:srgbClr val="000000"/>
                </a:solidFill>
                <a:latin typeface="Arab Times"/>
                <a:ea typeface="Arab Times"/>
                <a:cs typeface="Arab Times"/>
                <a:sym typeface="Arab Times"/>
              </a:rPr>
              <a:t> Visually locate sensitive data across all storage.</a:t>
            </a:r>
          </a:p>
          <a:p>
            <a:pPr algn="l">
              <a:lnSpc>
                <a:spcPts val="2229"/>
              </a:lnSpc>
            </a:pPr>
          </a:p>
          <a:p>
            <a:pPr algn="l" marL="487419" indent="-243709" lvl="1">
              <a:lnSpc>
                <a:spcPts val="2709"/>
              </a:lnSpc>
              <a:buFont typeface="Arial"/>
              <a:buChar char="•"/>
            </a:pPr>
            <a:r>
              <a:rPr lang="en-US" sz="2257">
                <a:solidFill>
                  <a:srgbClr val="000000"/>
                </a:solidFill>
                <a:latin typeface="Arab Times"/>
                <a:ea typeface="Arab Times"/>
                <a:cs typeface="Arab Times"/>
                <a:sym typeface="Arab Times"/>
              </a:rPr>
              <a:t>Core Design</a:t>
            </a:r>
          </a:p>
          <a:p>
            <a:pPr algn="l" marL="1203182" indent="-300796" lvl="3">
              <a:lnSpc>
                <a:spcPts val="2229"/>
              </a:lnSpc>
              <a:buFont typeface="Arial"/>
              <a:buChar char="￭"/>
            </a:pPr>
            <a:r>
              <a:rPr lang="en-US" sz="1857">
                <a:solidFill>
                  <a:srgbClr val="000000"/>
                </a:solidFill>
                <a:latin typeface="Arab Times"/>
                <a:ea typeface="Arab Times"/>
                <a:cs typeface="Arab Times"/>
                <a:sym typeface="Arab Times"/>
              </a:rPr>
              <a:t>Role-Based Views: Customized for CTOs, Engineers, and Analysts.</a:t>
            </a:r>
          </a:p>
          <a:p>
            <a:pPr algn="l" marL="1203182" indent="-300796" lvl="3">
              <a:lnSpc>
                <a:spcPts val="2229"/>
              </a:lnSpc>
              <a:buFont typeface="Arial"/>
              <a:buChar char="￭"/>
            </a:pPr>
            <a:r>
              <a:rPr lang="en-US" sz="1857">
                <a:solidFill>
                  <a:srgbClr val="000000"/>
                </a:solidFill>
                <a:latin typeface="Arab Times"/>
                <a:ea typeface="Arab Times"/>
                <a:cs typeface="Arab Times"/>
                <a:sym typeface="Arab Times"/>
              </a:rPr>
              <a:t>Drill-Down Details: Navigate from summary views to individual resources.</a:t>
            </a:r>
          </a:p>
          <a:p>
            <a:pPr algn="l" marL="1203182" indent="-300796" lvl="3">
              <a:lnSpc>
                <a:spcPts val="2229"/>
              </a:lnSpc>
              <a:buFont typeface="Arial"/>
              <a:buChar char="￭"/>
            </a:pPr>
            <a:r>
              <a:rPr lang="en-US" sz="1857">
                <a:solidFill>
                  <a:srgbClr val="000000"/>
                </a:solidFill>
                <a:latin typeface="Arab Times"/>
                <a:ea typeface="Arab Times"/>
                <a:cs typeface="Arab Times"/>
                <a:sym typeface="Arab Times"/>
              </a:rPr>
              <a:t>Actionable UI: Resolve issues directly from the dashboard.</a:t>
            </a:r>
          </a:p>
          <a:p>
            <a:pPr algn="l">
              <a:lnSpc>
                <a:spcPts val="2229"/>
              </a:lnSpc>
            </a:pPr>
          </a:p>
        </p:txBody>
      </p:sp>
    </p:spTree>
  </p:cSld>
  <p:clrMapOvr>
    <a:masterClrMapping/>
  </p:clrMapOvr>
  <p:transition spd="fast">
    <p:fade/>
  </p:transition>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7938" y="-7938"/>
            <a:ext cx="18303875" cy="10302875"/>
            <a:chOff x="0" y="0"/>
            <a:chExt cx="24405167" cy="13737167"/>
          </a:xfrm>
        </p:grpSpPr>
        <p:sp>
          <p:nvSpPr>
            <p:cNvPr name="Freeform 3" id="3"/>
            <p:cNvSpPr/>
            <p:nvPr/>
          </p:nvSpPr>
          <p:spPr>
            <a:xfrm flipH="false" flipV="false" rot="0">
              <a:off x="10541" y="10541"/>
              <a:ext cx="24383999" cy="13715999"/>
            </a:xfrm>
            <a:custGeom>
              <a:avLst/>
              <a:gdLst/>
              <a:ahLst/>
              <a:cxnLst/>
              <a:rect r="r" b="b" t="t" l="l"/>
              <a:pathLst>
                <a:path h="13715999" w="24383999">
                  <a:moveTo>
                    <a:pt x="0" y="0"/>
                  </a:moveTo>
                  <a:lnTo>
                    <a:pt x="24383999" y="0"/>
                  </a:lnTo>
                  <a:lnTo>
                    <a:pt x="24383999" y="13715999"/>
                  </a:lnTo>
                  <a:lnTo>
                    <a:pt x="0" y="13715999"/>
                  </a:lnTo>
                  <a:close/>
                </a:path>
              </a:pathLst>
            </a:custGeom>
            <a:solidFill>
              <a:srgbClr val="EDF1F8"/>
            </a:solidFill>
          </p:spPr>
        </p:sp>
      </p:grpSp>
      <p:grpSp>
        <p:nvGrpSpPr>
          <p:cNvPr name="Group 4" id="4"/>
          <p:cNvGrpSpPr/>
          <p:nvPr/>
        </p:nvGrpSpPr>
        <p:grpSpPr>
          <a:xfrm rot="0">
            <a:off x="-15875" y="0"/>
            <a:ext cx="18303875" cy="10302875"/>
            <a:chOff x="0" y="0"/>
            <a:chExt cx="24405167" cy="13737167"/>
          </a:xfrm>
        </p:grpSpPr>
        <p:sp>
          <p:nvSpPr>
            <p:cNvPr name="Freeform 5" id="5"/>
            <p:cNvSpPr/>
            <p:nvPr/>
          </p:nvSpPr>
          <p:spPr>
            <a:xfrm flipH="false" flipV="false" rot="0">
              <a:off x="10541" y="10541"/>
              <a:ext cx="24383999" cy="13715999"/>
            </a:xfrm>
            <a:custGeom>
              <a:avLst/>
              <a:gdLst/>
              <a:ahLst/>
              <a:cxnLst/>
              <a:rect r="r" b="b" t="t" l="l"/>
              <a:pathLst>
                <a:path h="13715999" w="24383999">
                  <a:moveTo>
                    <a:pt x="0" y="0"/>
                  </a:moveTo>
                  <a:lnTo>
                    <a:pt x="24383999" y="0"/>
                  </a:lnTo>
                  <a:lnTo>
                    <a:pt x="24383999" y="13715999"/>
                  </a:lnTo>
                  <a:lnTo>
                    <a:pt x="0" y="13715999"/>
                  </a:lnTo>
                  <a:close/>
                </a:path>
              </a:pathLst>
            </a:custGeom>
            <a:solidFill>
              <a:srgbClr val="FBFCFE"/>
            </a:solidFill>
          </p:spPr>
        </p:sp>
      </p:grpSp>
      <p:sp>
        <p:nvSpPr>
          <p:cNvPr name="Freeform 6" id="6"/>
          <p:cNvSpPr/>
          <p:nvPr/>
        </p:nvSpPr>
        <p:spPr>
          <a:xfrm flipH="false" flipV="false" rot="0">
            <a:off x="1777034" y="1590691"/>
            <a:ext cx="13793365" cy="8448436"/>
          </a:xfrm>
          <a:custGeom>
            <a:avLst/>
            <a:gdLst/>
            <a:ahLst/>
            <a:cxnLst/>
            <a:rect r="r" b="b" t="t" l="l"/>
            <a:pathLst>
              <a:path h="8448436" w="13793365">
                <a:moveTo>
                  <a:pt x="0" y="0"/>
                </a:moveTo>
                <a:lnTo>
                  <a:pt x="13793366" y="0"/>
                </a:lnTo>
                <a:lnTo>
                  <a:pt x="13793366" y="8448436"/>
                </a:lnTo>
                <a:lnTo>
                  <a:pt x="0" y="8448436"/>
                </a:lnTo>
                <a:lnTo>
                  <a:pt x="0" y="0"/>
                </a:lnTo>
                <a:close/>
              </a:path>
            </a:pathLst>
          </a:custGeom>
          <a:blipFill>
            <a:blip r:embed="rId2"/>
            <a:stretch>
              <a:fillRect l="0" t="0" r="0" b="0"/>
            </a:stretch>
          </a:blipFill>
        </p:spPr>
      </p:sp>
      <p:sp>
        <p:nvSpPr>
          <p:cNvPr name="TextBox 7" id="7"/>
          <p:cNvSpPr txBox="true"/>
          <p:nvPr/>
        </p:nvSpPr>
        <p:spPr>
          <a:xfrm rot="0">
            <a:off x="1028700" y="730623"/>
            <a:ext cx="13013425" cy="860068"/>
          </a:xfrm>
          <a:prstGeom prst="rect">
            <a:avLst/>
          </a:prstGeom>
        </p:spPr>
        <p:txBody>
          <a:bodyPr anchor="t" rtlCol="false" tIns="0" lIns="0" bIns="0" rIns="0">
            <a:spAutoFit/>
          </a:bodyPr>
          <a:lstStyle/>
          <a:p>
            <a:pPr algn="ctr">
              <a:lnSpc>
                <a:spcPts val="6945"/>
              </a:lnSpc>
              <a:spcBef>
                <a:spcPct val="0"/>
              </a:spcBef>
            </a:pPr>
            <a:r>
              <a:rPr lang="en-US" b="true" sz="5556">
                <a:solidFill>
                  <a:srgbClr val="3257B8"/>
                </a:solidFill>
                <a:latin typeface="Roboto Slab Bold"/>
                <a:ea typeface="Roboto Slab Bold"/>
                <a:cs typeface="Roboto Slab Bold"/>
                <a:sym typeface="Roboto Slab Bold"/>
              </a:rPr>
              <a:t>The components are outlined below:</a:t>
            </a:r>
          </a:p>
        </p:txBody>
      </p:sp>
      <p:sp>
        <p:nvSpPr>
          <p:cNvPr name="TextBox 8" id="8"/>
          <p:cNvSpPr txBox="true"/>
          <p:nvPr/>
        </p:nvSpPr>
        <p:spPr>
          <a:xfrm rot="0">
            <a:off x="667160" y="209615"/>
            <a:ext cx="16953679" cy="540059"/>
          </a:xfrm>
          <a:prstGeom prst="rect">
            <a:avLst/>
          </a:prstGeom>
        </p:spPr>
        <p:txBody>
          <a:bodyPr anchor="t" rtlCol="false" tIns="0" lIns="0" bIns="0" rIns="0">
            <a:spAutoFit/>
          </a:bodyPr>
          <a:lstStyle/>
          <a:p>
            <a:pPr algn="l">
              <a:lnSpc>
                <a:spcPts val="4314"/>
              </a:lnSpc>
            </a:pPr>
            <a:r>
              <a:rPr lang="en-US" sz="3451">
                <a:solidFill>
                  <a:srgbClr val="3257B8"/>
                </a:solidFill>
                <a:latin typeface="Roboto Slab"/>
                <a:ea typeface="Roboto Slab"/>
                <a:cs typeface="Roboto Slab"/>
                <a:sym typeface="Roboto Slab"/>
              </a:rPr>
              <a:t>Methodology(System Design)</a:t>
            </a:r>
          </a:p>
        </p:txBody>
      </p:sp>
    </p:spTree>
  </p:cSld>
  <p:clrMapOvr>
    <a:masterClrMapping/>
  </p:clrMapOvr>
  <p:transition spd="fast">
    <p:fade/>
  </p:transition>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7938" y="-7938"/>
            <a:ext cx="18303875" cy="10302875"/>
            <a:chOff x="0" y="0"/>
            <a:chExt cx="24405167" cy="13737167"/>
          </a:xfrm>
        </p:grpSpPr>
        <p:sp>
          <p:nvSpPr>
            <p:cNvPr name="Freeform 3" id="3"/>
            <p:cNvSpPr/>
            <p:nvPr/>
          </p:nvSpPr>
          <p:spPr>
            <a:xfrm flipH="false" flipV="false" rot="0">
              <a:off x="10541" y="10541"/>
              <a:ext cx="24383999" cy="13715999"/>
            </a:xfrm>
            <a:custGeom>
              <a:avLst/>
              <a:gdLst/>
              <a:ahLst/>
              <a:cxnLst/>
              <a:rect r="r" b="b" t="t" l="l"/>
              <a:pathLst>
                <a:path h="13715999" w="24383999">
                  <a:moveTo>
                    <a:pt x="0" y="0"/>
                  </a:moveTo>
                  <a:lnTo>
                    <a:pt x="24383999" y="0"/>
                  </a:lnTo>
                  <a:lnTo>
                    <a:pt x="24383999" y="13715999"/>
                  </a:lnTo>
                  <a:lnTo>
                    <a:pt x="0" y="13715999"/>
                  </a:lnTo>
                  <a:close/>
                </a:path>
              </a:pathLst>
            </a:custGeom>
            <a:solidFill>
              <a:srgbClr val="EDF1F8"/>
            </a:solidFill>
          </p:spPr>
        </p:sp>
      </p:grpSp>
      <p:grpSp>
        <p:nvGrpSpPr>
          <p:cNvPr name="Group 4" id="4"/>
          <p:cNvGrpSpPr/>
          <p:nvPr/>
        </p:nvGrpSpPr>
        <p:grpSpPr>
          <a:xfrm rot="0">
            <a:off x="-7938" y="-7938"/>
            <a:ext cx="18303875" cy="10302875"/>
            <a:chOff x="0" y="0"/>
            <a:chExt cx="24405167" cy="13737167"/>
          </a:xfrm>
        </p:grpSpPr>
        <p:sp>
          <p:nvSpPr>
            <p:cNvPr name="Freeform 5" id="5"/>
            <p:cNvSpPr/>
            <p:nvPr/>
          </p:nvSpPr>
          <p:spPr>
            <a:xfrm flipH="false" flipV="false" rot="0">
              <a:off x="10541" y="10541"/>
              <a:ext cx="24383999" cy="13715999"/>
            </a:xfrm>
            <a:custGeom>
              <a:avLst/>
              <a:gdLst/>
              <a:ahLst/>
              <a:cxnLst/>
              <a:rect r="r" b="b" t="t" l="l"/>
              <a:pathLst>
                <a:path h="13715999" w="24383999">
                  <a:moveTo>
                    <a:pt x="0" y="0"/>
                  </a:moveTo>
                  <a:lnTo>
                    <a:pt x="24383999" y="0"/>
                  </a:lnTo>
                  <a:lnTo>
                    <a:pt x="24383999" y="13715999"/>
                  </a:lnTo>
                  <a:lnTo>
                    <a:pt x="0" y="13715999"/>
                  </a:lnTo>
                  <a:close/>
                </a:path>
              </a:pathLst>
            </a:custGeom>
            <a:solidFill>
              <a:srgbClr val="FBFCFE"/>
            </a:solidFill>
          </p:spPr>
        </p:sp>
      </p:grpSp>
      <p:grpSp>
        <p:nvGrpSpPr>
          <p:cNvPr name="Group 6" id="6"/>
          <p:cNvGrpSpPr>
            <a:grpSpLocks noChangeAspect="true"/>
          </p:cNvGrpSpPr>
          <p:nvPr/>
        </p:nvGrpSpPr>
        <p:grpSpPr>
          <a:xfrm rot="0">
            <a:off x="3375597" y="1802247"/>
            <a:ext cx="12175377" cy="8122209"/>
            <a:chOff x="0" y="0"/>
            <a:chExt cx="16233837" cy="10829612"/>
          </a:xfrm>
        </p:grpSpPr>
        <p:sp>
          <p:nvSpPr>
            <p:cNvPr name="Freeform 7" id="7" descr="Image"/>
            <p:cNvSpPr/>
            <p:nvPr/>
          </p:nvSpPr>
          <p:spPr>
            <a:xfrm flipH="false" flipV="false" rot="0">
              <a:off x="0" y="0"/>
              <a:ext cx="16233775" cy="10829671"/>
            </a:xfrm>
            <a:custGeom>
              <a:avLst/>
              <a:gdLst/>
              <a:ahLst/>
              <a:cxnLst/>
              <a:rect r="r" b="b" t="t" l="l"/>
              <a:pathLst>
                <a:path h="10829671" w="16233775">
                  <a:moveTo>
                    <a:pt x="0" y="0"/>
                  </a:moveTo>
                  <a:lnTo>
                    <a:pt x="16233775" y="0"/>
                  </a:lnTo>
                  <a:lnTo>
                    <a:pt x="16233775" y="10829671"/>
                  </a:lnTo>
                  <a:lnTo>
                    <a:pt x="0" y="10829671"/>
                  </a:lnTo>
                  <a:lnTo>
                    <a:pt x="0" y="0"/>
                  </a:lnTo>
                  <a:close/>
                </a:path>
              </a:pathLst>
            </a:custGeom>
            <a:blipFill>
              <a:blip r:embed="rId2"/>
              <a:stretch>
                <a:fillRect l="-32" t="0" r="-32" b="0"/>
              </a:stretch>
            </a:blipFill>
          </p:spPr>
        </p:sp>
      </p:grpSp>
      <p:sp>
        <p:nvSpPr>
          <p:cNvPr name="TextBox 8" id="8"/>
          <p:cNvSpPr txBox="true"/>
          <p:nvPr/>
        </p:nvSpPr>
        <p:spPr>
          <a:xfrm rot="0">
            <a:off x="1028700" y="782179"/>
            <a:ext cx="7433221" cy="860425"/>
          </a:xfrm>
          <a:prstGeom prst="rect">
            <a:avLst/>
          </a:prstGeom>
        </p:spPr>
        <p:txBody>
          <a:bodyPr anchor="t" rtlCol="false" tIns="0" lIns="0" bIns="0" rIns="0">
            <a:spAutoFit/>
          </a:bodyPr>
          <a:lstStyle/>
          <a:p>
            <a:pPr algn="ctr">
              <a:lnSpc>
                <a:spcPts val="6874"/>
              </a:lnSpc>
              <a:spcBef>
                <a:spcPct val="0"/>
              </a:spcBef>
            </a:pPr>
            <a:r>
              <a:rPr lang="en-US" sz="5499">
                <a:solidFill>
                  <a:srgbClr val="3257B8"/>
                </a:solidFill>
                <a:latin typeface="Roboto Slab"/>
                <a:ea typeface="Roboto Slab"/>
                <a:cs typeface="Roboto Slab"/>
                <a:sym typeface="Roboto Slab"/>
              </a:rPr>
              <a:t>Architectural Diagram</a:t>
            </a:r>
          </a:p>
        </p:txBody>
      </p:sp>
    </p:spTree>
  </p:cSld>
  <p:clrMapOvr>
    <a:masterClrMapping/>
  </p:clrMapOvr>
  <p:transition spd="fast">
    <p:fade/>
  </p:transition>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7938" y="-7938"/>
            <a:ext cx="18303875" cy="10302875"/>
            <a:chOff x="0" y="0"/>
            <a:chExt cx="24405167" cy="13737167"/>
          </a:xfrm>
        </p:grpSpPr>
        <p:sp>
          <p:nvSpPr>
            <p:cNvPr name="Freeform 3" id="3"/>
            <p:cNvSpPr/>
            <p:nvPr/>
          </p:nvSpPr>
          <p:spPr>
            <a:xfrm flipH="false" flipV="false" rot="0">
              <a:off x="10541" y="10541"/>
              <a:ext cx="24383999" cy="13715999"/>
            </a:xfrm>
            <a:custGeom>
              <a:avLst/>
              <a:gdLst/>
              <a:ahLst/>
              <a:cxnLst/>
              <a:rect r="r" b="b" t="t" l="l"/>
              <a:pathLst>
                <a:path h="13715999" w="24383999">
                  <a:moveTo>
                    <a:pt x="0" y="0"/>
                  </a:moveTo>
                  <a:lnTo>
                    <a:pt x="24383999" y="0"/>
                  </a:lnTo>
                  <a:lnTo>
                    <a:pt x="24383999" y="13715999"/>
                  </a:lnTo>
                  <a:lnTo>
                    <a:pt x="0" y="13715999"/>
                  </a:lnTo>
                  <a:close/>
                </a:path>
              </a:pathLst>
            </a:custGeom>
            <a:solidFill>
              <a:srgbClr val="EDF1F8"/>
            </a:solidFill>
          </p:spPr>
        </p:sp>
      </p:grpSp>
      <p:grpSp>
        <p:nvGrpSpPr>
          <p:cNvPr name="Group 4" id="4"/>
          <p:cNvGrpSpPr/>
          <p:nvPr/>
        </p:nvGrpSpPr>
        <p:grpSpPr>
          <a:xfrm rot="0">
            <a:off x="9525" y="-7938"/>
            <a:ext cx="18303875" cy="10302875"/>
            <a:chOff x="0" y="0"/>
            <a:chExt cx="24405167" cy="13737167"/>
          </a:xfrm>
        </p:grpSpPr>
        <p:sp>
          <p:nvSpPr>
            <p:cNvPr name="Freeform 5" id="5"/>
            <p:cNvSpPr/>
            <p:nvPr/>
          </p:nvSpPr>
          <p:spPr>
            <a:xfrm flipH="false" flipV="false" rot="0">
              <a:off x="10541" y="10541"/>
              <a:ext cx="24383999" cy="13715999"/>
            </a:xfrm>
            <a:custGeom>
              <a:avLst/>
              <a:gdLst/>
              <a:ahLst/>
              <a:cxnLst/>
              <a:rect r="r" b="b" t="t" l="l"/>
              <a:pathLst>
                <a:path h="13715999" w="24383999">
                  <a:moveTo>
                    <a:pt x="0" y="0"/>
                  </a:moveTo>
                  <a:lnTo>
                    <a:pt x="24383999" y="0"/>
                  </a:lnTo>
                  <a:lnTo>
                    <a:pt x="24383999" y="13715999"/>
                  </a:lnTo>
                  <a:lnTo>
                    <a:pt x="0" y="13715999"/>
                  </a:lnTo>
                  <a:close/>
                </a:path>
              </a:pathLst>
            </a:custGeom>
            <a:solidFill>
              <a:srgbClr val="FBFCFE"/>
            </a:solidFill>
          </p:spPr>
        </p:sp>
      </p:grpSp>
      <p:grpSp>
        <p:nvGrpSpPr>
          <p:cNvPr name="Group 6" id="6"/>
          <p:cNvGrpSpPr>
            <a:grpSpLocks noChangeAspect="true"/>
          </p:cNvGrpSpPr>
          <p:nvPr/>
        </p:nvGrpSpPr>
        <p:grpSpPr>
          <a:xfrm rot="0">
            <a:off x="2992623" y="2160522"/>
            <a:ext cx="11365034" cy="7581732"/>
            <a:chOff x="0" y="0"/>
            <a:chExt cx="15901115" cy="10607798"/>
          </a:xfrm>
        </p:grpSpPr>
        <p:sp>
          <p:nvSpPr>
            <p:cNvPr name="Freeform 7" id="7" descr="Image"/>
            <p:cNvSpPr/>
            <p:nvPr/>
          </p:nvSpPr>
          <p:spPr>
            <a:xfrm flipH="false" flipV="false" rot="0">
              <a:off x="0" y="0"/>
              <a:ext cx="15901163" cy="10607802"/>
            </a:xfrm>
            <a:custGeom>
              <a:avLst/>
              <a:gdLst/>
              <a:ahLst/>
              <a:cxnLst/>
              <a:rect r="r" b="b" t="t" l="l"/>
              <a:pathLst>
                <a:path h="10607802" w="15901163">
                  <a:moveTo>
                    <a:pt x="0" y="0"/>
                  </a:moveTo>
                  <a:lnTo>
                    <a:pt x="15901163" y="0"/>
                  </a:lnTo>
                  <a:lnTo>
                    <a:pt x="15901163" y="10607802"/>
                  </a:lnTo>
                  <a:lnTo>
                    <a:pt x="0" y="10607802"/>
                  </a:lnTo>
                  <a:lnTo>
                    <a:pt x="0" y="0"/>
                  </a:lnTo>
                  <a:close/>
                </a:path>
              </a:pathLst>
            </a:custGeom>
            <a:blipFill>
              <a:blip r:embed="rId2"/>
              <a:stretch>
                <a:fillRect l="0" t="0" r="-66" b="0"/>
              </a:stretch>
            </a:blipFill>
          </p:spPr>
        </p:sp>
      </p:grpSp>
      <p:sp>
        <p:nvSpPr>
          <p:cNvPr name="TextBox 8" id="8"/>
          <p:cNvSpPr txBox="true"/>
          <p:nvPr/>
        </p:nvSpPr>
        <p:spPr>
          <a:xfrm rot="0">
            <a:off x="1047750" y="584200"/>
            <a:ext cx="3384500" cy="860425"/>
          </a:xfrm>
          <a:prstGeom prst="rect">
            <a:avLst/>
          </a:prstGeom>
        </p:spPr>
        <p:txBody>
          <a:bodyPr anchor="t" rtlCol="false" tIns="0" lIns="0" bIns="0" rIns="0">
            <a:spAutoFit/>
          </a:bodyPr>
          <a:lstStyle/>
          <a:p>
            <a:pPr algn="ctr">
              <a:lnSpc>
                <a:spcPts val="6874"/>
              </a:lnSpc>
              <a:spcBef>
                <a:spcPct val="0"/>
              </a:spcBef>
            </a:pPr>
            <a:r>
              <a:rPr lang="en-US" sz="5499">
                <a:solidFill>
                  <a:srgbClr val="3257B8"/>
                </a:solidFill>
                <a:latin typeface="Roboto Slab"/>
                <a:ea typeface="Roboto Slab"/>
                <a:cs typeface="Roboto Slab"/>
                <a:sym typeface="Roboto Slab"/>
              </a:rPr>
              <a:t>Flowchart</a:t>
            </a:r>
          </a:p>
        </p:txBody>
      </p:sp>
    </p:spTree>
  </p:cSld>
  <p:clrMapOvr>
    <a:masterClrMapping/>
  </p:clrMapOvr>
  <p:transition spd="fast">
    <p:fade/>
  </p:transition>
</p:sld>
</file>

<file path=ppt/slides/slide18.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7938" y="-7938"/>
            <a:ext cx="18303875" cy="10302875"/>
            <a:chOff x="0" y="0"/>
            <a:chExt cx="24405167" cy="13737167"/>
          </a:xfrm>
        </p:grpSpPr>
        <p:sp>
          <p:nvSpPr>
            <p:cNvPr name="Freeform 3" id="3"/>
            <p:cNvSpPr/>
            <p:nvPr/>
          </p:nvSpPr>
          <p:spPr>
            <a:xfrm flipH="false" flipV="false" rot="0">
              <a:off x="10541" y="10541"/>
              <a:ext cx="24383999" cy="13715999"/>
            </a:xfrm>
            <a:custGeom>
              <a:avLst/>
              <a:gdLst/>
              <a:ahLst/>
              <a:cxnLst/>
              <a:rect r="r" b="b" t="t" l="l"/>
              <a:pathLst>
                <a:path h="13715999" w="24383999">
                  <a:moveTo>
                    <a:pt x="0" y="0"/>
                  </a:moveTo>
                  <a:lnTo>
                    <a:pt x="24383999" y="0"/>
                  </a:lnTo>
                  <a:lnTo>
                    <a:pt x="24383999" y="13715999"/>
                  </a:lnTo>
                  <a:lnTo>
                    <a:pt x="0" y="13715999"/>
                  </a:lnTo>
                  <a:close/>
                </a:path>
              </a:pathLst>
            </a:custGeom>
            <a:solidFill>
              <a:srgbClr val="EDF1F8"/>
            </a:solidFill>
          </p:spPr>
        </p:sp>
      </p:grpSp>
      <p:grpSp>
        <p:nvGrpSpPr>
          <p:cNvPr name="Group 4" id="4"/>
          <p:cNvGrpSpPr/>
          <p:nvPr/>
        </p:nvGrpSpPr>
        <p:grpSpPr>
          <a:xfrm rot="0">
            <a:off x="-7938" y="-7938"/>
            <a:ext cx="18303875" cy="10302875"/>
            <a:chOff x="0" y="0"/>
            <a:chExt cx="24405167" cy="13737167"/>
          </a:xfrm>
        </p:grpSpPr>
        <p:sp>
          <p:nvSpPr>
            <p:cNvPr name="Freeform 5" id="5"/>
            <p:cNvSpPr/>
            <p:nvPr/>
          </p:nvSpPr>
          <p:spPr>
            <a:xfrm flipH="false" flipV="false" rot="0">
              <a:off x="10541" y="10541"/>
              <a:ext cx="24383999" cy="13715999"/>
            </a:xfrm>
            <a:custGeom>
              <a:avLst/>
              <a:gdLst/>
              <a:ahLst/>
              <a:cxnLst/>
              <a:rect r="r" b="b" t="t" l="l"/>
              <a:pathLst>
                <a:path h="13715999" w="24383999">
                  <a:moveTo>
                    <a:pt x="0" y="0"/>
                  </a:moveTo>
                  <a:lnTo>
                    <a:pt x="24383999" y="0"/>
                  </a:lnTo>
                  <a:lnTo>
                    <a:pt x="24383999" y="13715999"/>
                  </a:lnTo>
                  <a:lnTo>
                    <a:pt x="0" y="13715999"/>
                  </a:lnTo>
                  <a:close/>
                </a:path>
              </a:pathLst>
            </a:custGeom>
            <a:solidFill>
              <a:srgbClr val="FBFCFE"/>
            </a:solidFill>
          </p:spPr>
        </p:sp>
      </p:grpSp>
      <p:sp>
        <p:nvSpPr>
          <p:cNvPr name="TextBox 6" id="6"/>
          <p:cNvSpPr txBox="true"/>
          <p:nvPr/>
        </p:nvSpPr>
        <p:spPr>
          <a:xfrm rot="0">
            <a:off x="1028700" y="902834"/>
            <a:ext cx="7757885" cy="903593"/>
          </a:xfrm>
          <a:prstGeom prst="rect">
            <a:avLst/>
          </a:prstGeom>
        </p:spPr>
        <p:txBody>
          <a:bodyPr anchor="t" rtlCol="false" tIns="0" lIns="0" bIns="0" rIns="0">
            <a:spAutoFit/>
          </a:bodyPr>
          <a:lstStyle/>
          <a:p>
            <a:pPr algn="l">
              <a:lnSpc>
                <a:spcPts val="6875"/>
              </a:lnSpc>
            </a:pPr>
            <a:r>
              <a:rPr lang="en-US" sz="5500">
                <a:solidFill>
                  <a:srgbClr val="3257B8"/>
                </a:solidFill>
                <a:latin typeface="Roboto Slab"/>
                <a:ea typeface="Roboto Slab"/>
                <a:cs typeface="Roboto Slab"/>
                <a:sym typeface="Roboto Slab"/>
              </a:rPr>
              <a:t>Conclusion &amp; Next Steps</a:t>
            </a:r>
          </a:p>
        </p:txBody>
      </p:sp>
      <p:sp>
        <p:nvSpPr>
          <p:cNvPr name="TextBox 7" id="7"/>
          <p:cNvSpPr txBox="true"/>
          <p:nvPr/>
        </p:nvSpPr>
        <p:spPr>
          <a:xfrm rot="0">
            <a:off x="984300" y="3154704"/>
            <a:ext cx="16319402" cy="982816"/>
          </a:xfrm>
          <a:prstGeom prst="rect">
            <a:avLst/>
          </a:prstGeom>
        </p:spPr>
        <p:txBody>
          <a:bodyPr anchor="t" rtlCol="false" tIns="0" lIns="0" bIns="0" rIns="0">
            <a:spAutoFit/>
          </a:bodyPr>
          <a:lstStyle/>
          <a:p>
            <a:pPr algn="l">
              <a:lnSpc>
                <a:spcPts val="3500"/>
              </a:lnSpc>
            </a:pPr>
            <a:r>
              <a:rPr lang="en-US" sz="2125">
                <a:solidFill>
                  <a:srgbClr val="15213F"/>
                </a:solidFill>
                <a:latin typeface="Roboto"/>
                <a:ea typeface="Roboto"/>
                <a:cs typeface="Roboto"/>
                <a:sym typeface="Roboto"/>
              </a:rPr>
              <a:t>Our platform offers an intelligent, automated, and secure solution for cloud resource optimization. It empowers users to save money, boost performance, and maintain security effortlessly.</a:t>
            </a:r>
          </a:p>
        </p:txBody>
      </p:sp>
      <p:sp>
        <p:nvSpPr>
          <p:cNvPr name="TextBox 8" id="8"/>
          <p:cNvSpPr txBox="true"/>
          <p:nvPr/>
        </p:nvSpPr>
        <p:spPr>
          <a:xfrm rot="0">
            <a:off x="984300" y="4928095"/>
            <a:ext cx="2097190" cy="538317"/>
          </a:xfrm>
          <a:prstGeom prst="rect">
            <a:avLst/>
          </a:prstGeom>
        </p:spPr>
        <p:txBody>
          <a:bodyPr anchor="t" rtlCol="false" tIns="0" lIns="0" bIns="0" rIns="0">
            <a:spAutoFit/>
          </a:bodyPr>
          <a:lstStyle/>
          <a:p>
            <a:pPr algn="l">
              <a:lnSpc>
                <a:spcPts val="3500"/>
              </a:lnSpc>
            </a:pPr>
            <a:r>
              <a:rPr lang="en-US" sz="2125" b="true">
                <a:solidFill>
                  <a:srgbClr val="15213F"/>
                </a:solidFill>
                <a:latin typeface="Roboto Bold"/>
                <a:ea typeface="Roboto Bold"/>
                <a:cs typeface="Roboto Bold"/>
                <a:sym typeface="Roboto Bold"/>
              </a:rPr>
              <a:t>Key Takeaways:</a:t>
            </a:r>
          </a:p>
        </p:txBody>
      </p:sp>
      <p:sp>
        <p:nvSpPr>
          <p:cNvPr name="TextBox 9" id="9"/>
          <p:cNvSpPr txBox="true"/>
          <p:nvPr/>
        </p:nvSpPr>
        <p:spPr>
          <a:xfrm rot="0">
            <a:off x="984300" y="5700661"/>
            <a:ext cx="6716389" cy="538317"/>
          </a:xfrm>
          <a:prstGeom prst="rect">
            <a:avLst/>
          </a:prstGeom>
        </p:spPr>
        <p:txBody>
          <a:bodyPr anchor="t" rtlCol="false" tIns="0" lIns="0" bIns="0" rIns="0">
            <a:spAutoFit/>
          </a:bodyPr>
          <a:lstStyle/>
          <a:p>
            <a:pPr algn="l" marL="320477" indent="-160238" lvl="1">
              <a:lnSpc>
                <a:spcPts val="3500"/>
              </a:lnSpc>
              <a:buFont typeface="Arial"/>
              <a:buChar char="•"/>
            </a:pPr>
            <a:r>
              <a:rPr lang="en-US" sz="2125">
                <a:solidFill>
                  <a:srgbClr val="15213F"/>
                </a:solidFill>
                <a:latin typeface="Roboto"/>
                <a:ea typeface="Roboto"/>
                <a:cs typeface="Roboto"/>
                <a:sym typeface="Roboto"/>
              </a:rPr>
              <a:t>Cost reduction through intelligent tiering and routing.</a:t>
            </a:r>
          </a:p>
        </p:txBody>
      </p:sp>
      <p:sp>
        <p:nvSpPr>
          <p:cNvPr name="TextBox 10" id="10"/>
          <p:cNvSpPr txBox="true"/>
          <p:nvPr/>
        </p:nvSpPr>
        <p:spPr>
          <a:xfrm rot="0">
            <a:off x="984300" y="6253410"/>
            <a:ext cx="8621195" cy="538316"/>
          </a:xfrm>
          <a:prstGeom prst="rect">
            <a:avLst/>
          </a:prstGeom>
        </p:spPr>
        <p:txBody>
          <a:bodyPr anchor="t" rtlCol="false" tIns="0" lIns="0" bIns="0" rIns="0">
            <a:spAutoFit/>
          </a:bodyPr>
          <a:lstStyle/>
          <a:p>
            <a:pPr algn="l" marL="320477" indent="-160238" lvl="1">
              <a:lnSpc>
                <a:spcPts val="3500"/>
              </a:lnSpc>
              <a:buFont typeface="Arial"/>
              <a:buChar char="•"/>
            </a:pPr>
            <a:r>
              <a:rPr lang="en-US" sz="2125">
                <a:solidFill>
                  <a:srgbClr val="15213F"/>
                </a:solidFill>
                <a:latin typeface="Roboto"/>
                <a:ea typeface="Roboto"/>
                <a:cs typeface="Roboto"/>
                <a:sym typeface="Roboto"/>
              </a:rPr>
              <a:t>Enhanced performance via predictive autoscaling and live migration.</a:t>
            </a:r>
          </a:p>
        </p:txBody>
      </p:sp>
      <p:sp>
        <p:nvSpPr>
          <p:cNvPr name="TextBox 11" id="11"/>
          <p:cNvSpPr txBox="true"/>
          <p:nvPr/>
        </p:nvSpPr>
        <p:spPr>
          <a:xfrm rot="0">
            <a:off x="984300" y="6806159"/>
            <a:ext cx="8785782" cy="538316"/>
          </a:xfrm>
          <a:prstGeom prst="rect">
            <a:avLst/>
          </a:prstGeom>
        </p:spPr>
        <p:txBody>
          <a:bodyPr anchor="t" rtlCol="false" tIns="0" lIns="0" bIns="0" rIns="0">
            <a:spAutoFit/>
          </a:bodyPr>
          <a:lstStyle/>
          <a:p>
            <a:pPr algn="l" marL="320477" indent="-160238" lvl="1">
              <a:lnSpc>
                <a:spcPts val="3500"/>
              </a:lnSpc>
              <a:buFont typeface="Arial"/>
              <a:buChar char="•"/>
            </a:pPr>
            <a:r>
              <a:rPr lang="en-US" sz="2125">
                <a:solidFill>
                  <a:srgbClr val="15213F"/>
                </a:solidFill>
                <a:latin typeface="Roboto"/>
                <a:ea typeface="Roboto"/>
                <a:cs typeface="Roboto"/>
                <a:sym typeface="Roboto"/>
              </a:rPr>
              <a:t>Robust security with automated encryption and least privilege access.</a:t>
            </a:r>
          </a:p>
        </p:txBody>
      </p:sp>
      <p:sp>
        <p:nvSpPr>
          <p:cNvPr name="TextBox 12" id="12"/>
          <p:cNvSpPr txBox="true"/>
          <p:nvPr/>
        </p:nvSpPr>
        <p:spPr>
          <a:xfrm rot="0">
            <a:off x="984300" y="7358905"/>
            <a:ext cx="6865162" cy="538317"/>
          </a:xfrm>
          <a:prstGeom prst="rect">
            <a:avLst/>
          </a:prstGeom>
        </p:spPr>
        <p:txBody>
          <a:bodyPr anchor="t" rtlCol="false" tIns="0" lIns="0" bIns="0" rIns="0">
            <a:spAutoFit/>
          </a:bodyPr>
          <a:lstStyle/>
          <a:p>
            <a:pPr algn="l" marL="320477" indent="-160238" lvl="1">
              <a:lnSpc>
                <a:spcPts val="3500"/>
              </a:lnSpc>
              <a:buFont typeface="Arial"/>
              <a:buChar char="•"/>
            </a:pPr>
            <a:r>
              <a:rPr lang="en-US" sz="2125">
                <a:solidFill>
                  <a:srgbClr val="15213F"/>
                </a:solidFill>
                <a:latin typeface="Roboto"/>
                <a:ea typeface="Roboto"/>
                <a:cs typeface="Roboto"/>
                <a:sym typeface="Roboto"/>
              </a:rPr>
              <a:t>Centralized visibility for simplified cloud management.</a:t>
            </a:r>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DAGxJvDC44s</dc:identifier>
  <dcterms:modified xsi:type="dcterms:W3CDTF">2011-08-01T06:04:30Z</dcterms:modified>
  <cp:revision>1</cp:revision>
  <dc:title>Intelligent-Cloud-Resource-Optimization-Platform.pp</dc:title>
</cp:coreProperties>
</file>